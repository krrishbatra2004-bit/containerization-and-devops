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pen Sauce Medium" charset="1" panose="00000600000000000000"/>
      <p:regular r:id="rId20"/>
    </p:embeddedFont>
    <p:embeddedFont>
      <p:font typeface="Open Sauce Bold" charset="1" panose="00000800000000000000"/>
      <p:regular r:id="rId21"/>
    </p:embeddedFont>
    <p:embeddedFont>
      <p:font typeface="Open Sauce" charset="1" panose="00000500000000000000"/>
      <p:regular r:id="rId22"/>
    </p:embeddedFont>
    <p:embeddedFont>
      <p:font typeface="Montserrat" charset="1" panose="00000500000000000000"/>
      <p:regular r:id="rId23"/>
    </p:embeddedFont>
    <p:embeddedFont>
      <p:font typeface="Montserrat Bold" charset="1" panose="00000800000000000000"/>
      <p:regular r:id="rId24"/>
    </p:embeddedFont>
    <p:embeddedFont>
      <p:font typeface="Open Sauce Light" charset="1" panose="000004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jpe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www.xmatters.com/blog/what-is-a-devops-toolchain-and-how-does-it-work" TargetMode="External" Type="http://schemas.openxmlformats.org/officeDocument/2006/relationships/hyperlink"/><Relationship Id="rId5" Target="https://dev.to/meghasharmaaaa/devops-toolchain-mlo"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65210" y="-2557831"/>
            <a:ext cx="7401663" cy="18288000"/>
          </a:xfrm>
          <a:custGeom>
            <a:avLst/>
            <a:gdLst/>
            <a:ahLst/>
            <a:cxnLst/>
            <a:rect r="r" b="b" t="t" l="l"/>
            <a:pathLst>
              <a:path h="18288000" w="7401663">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t="0" r="0" b="0"/>
            </a:stretch>
          </a:blipFill>
        </p:spPr>
      </p:sp>
      <p:sp>
        <p:nvSpPr>
          <p:cNvPr name="TextBox 3" id="3"/>
          <p:cNvSpPr txBox="true"/>
          <p:nvPr/>
        </p:nvSpPr>
        <p:spPr>
          <a:xfrm rot="0">
            <a:off x="0" y="2519483"/>
            <a:ext cx="18288000" cy="1501738"/>
          </a:xfrm>
          <a:prstGeom prst="rect">
            <a:avLst/>
          </a:prstGeom>
        </p:spPr>
        <p:txBody>
          <a:bodyPr anchor="t" rtlCol="false" tIns="0" lIns="0" bIns="0" rIns="0">
            <a:spAutoFit/>
          </a:bodyPr>
          <a:lstStyle/>
          <a:p>
            <a:pPr algn="ctr">
              <a:lnSpc>
                <a:spcPts val="12252"/>
              </a:lnSpc>
              <a:spcBef>
                <a:spcPct val="0"/>
              </a:spcBef>
            </a:pPr>
            <a:r>
              <a:rPr lang="en-US" b="true" sz="8751" spc="-411">
                <a:solidFill>
                  <a:srgbClr val="FFFFFF"/>
                </a:solidFill>
                <a:latin typeface="Open Sauce Medium"/>
                <a:ea typeface="Open Sauce Medium"/>
                <a:cs typeface="Open Sauce Medium"/>
                <a:sym typeface="Open Sauce Medium"/>
              </a:rPr>
              <a:t> DevOps Toolchain Overview</a:t>
            </a:r>
          </a:p>
        </p:txBody>
      </p:sp>
      <p:sp>
        <p:nvSpPr>
          <p:cNvPr name="TextBox 4" id="4"/>
          <p:cNvSpPr txBox="true"/>
          <p:nvPr/>
        </p:nvSpPr>
        <p:spPr>
          <a:xfrm rot="0">
            <a:off x="4138810" y="5067300"/>
            <a:ext cx="10054461" cy="712470"/>
          </a:xfrm>
          <a:prstGeom prst="rect">
            <a:avLst/>
          </a:prstGeom>
        </p:spPr>
        <p:txBody>
          <a:bodyPr anchor="t" rtlCol="false" tIns="0" lIns="0" bIns="0" rIns="0">
            <a:spAutoFit/>
          </a:bodyPr>
          <a:lstStyle/>
          <a:p>
            <a:pPr algn="ctr" marL="0" indent="0" lvl="0">
              <a:lnSpc>
                <a:spcPts val="5880"/>
              </a:lnSpc>
              <a:spcBef>
                <a:spcPct val="0"/>
              </a:spcBef>
            </a:pPr>
            <a:r>
              <a:rPr lang="en-US" b="true" sz="4200" spc="-197">
                <a:solidFill>
                  <a:srgbClr val="FFFFFF"/>
                </a:solidFill>
                <a:latin typeface="Open Sauce Bold"/>
                <a:ea typeface="Open Sauce Bold"/>
                <a:cs typeface="Open Sauce Bold"/>
                <a:sym typeface="Open Sauce Bold"/>
              </a:rPr>
              <a:t>CI , CD , Testing &amp; Monitoring Tools </a:t>
            </a:r>
          </a:p>
        </p:txBody>
      </p:sp>
      <p:sp>
        <p:nvSpPr>
          <p:cNvPr name="TextBox 5" id="5"/>
          <p:cNvSpPr txBox="true"/>
          <p:nvPr/>
        </p:nvSpPr>
        <p:spPr>
          <a:xfrm rot="0">
            <a:off x="1028700" y="7520388"/>
            <a:ext cx="12813246" cy="1163043"/>
          </a:xfrm>
          <a:prstGeom prst="rect">
            <a:avLst/>
          </a:prstGeom>
        </p:spPr>
        <p:txBody>
          <a:bodyPr anchor="t" rtlCol="false" tIns="0" lIns="0" bIns="0" rIns="0">
            <a:spAutoFit/>
          </a:bodyPr>
          <a:lstStyle/>
          <a:p>
            <a:pPr algn="l">
              <a:lnSpc>
                <a:spcPts val="4670"/>
              </a:lnSpc>
            </a:pPr>
            <a:r>
              <a:rPr lang="en-US" sz="3335" spc="6">
                <a:solidFill>
                  <a:srgbClr val="FFFFFF"/>
                </a:solidFill>
                <a:latin typeface="Open Sauce"/>
                <a:ea typeface="Open Sauce"/>
                <a:cs typeface="Open Sauce"/>
                <a:sym typeface="Open Sauce"/>
              </a:rPr>
              <a:t>By :</a:t>
            </a:r>
          </a:p>
          <a:p>
            <a:pPr algn="l">
              <a:lnSpc>
                <a:spcPts val="4670"/>
              </a:lnSpc>
              <a:spcBef>
                <a:spcPct val="0"/>
              </a:spcBef>
            </a:pPr>
            <a:r>
              <a:rPr lang="en-US" sz="3335" spc="6">
                <a:solidFill>
                  <a:srgbClr val="FFFFFF"/>
                </a:solidFill>
                <a:latin typeface="Open Sauce"/>
                <a:ea typeface="Open Sauce"/>
                <a:cs typeface="Open Sauce"/>
                <a:sym typeface="Open Sauce"/>
              </a:rPr>
              <a:t>Rishu Raj (500119484  B1) and Krrish Batra (500119657 B2)</a:t>
            </a:r>
          </a:p>
        </p:txBody>
      </p:sp>
      <p:grpSp>
        <p:nvGrpSpPr>
          <p:cNvPr name="Group 6" id="6"/>
          <p:cNvGrpSpPr/>
          <p:nvPr/>
        </p:nvGrpSpPr>
        <p:grpSpPr>
          <a:xfrm rot="0">
            <a:off x="-12697" y="-12697"/>
            <a:ext cx="18313403" cy="1214123"/>
            <a:chOff x="0" y="0"/>
            <a:chExt cx="24417871" cy="1618831"/>
          </a:xfrm>
        </p:grpSpPr>
        <p:sp>
          <p:nvSpPr>
            <p:cNvPr name="Freeform 7" id="7"/>
            <p:cNvSpPr/>
            <p:nvPr/>
          </p:nvSpPr>
          <p:spPr>
            <a:xfrm flipH="false" flipV="false" rot="0">
              <a:off x="16891" y="16891"/>
              <a:ext cx="24383999" cy="1584960"/>
            </a:xfrm>
            <a:custGeom>
              <a:avLst/>
              <a:gdLst/>
              <a:ahLst/>
              <a:cxnLst/>
              <a:rect r="r" b="b" t="t" l="l"/>
              <a:pathLst>
                <a:path h="1584960" w="24383999">
                  <a:moveTo>
                    <a:pt x="0" y="0"/>
                  </a:moveTo>
                  <a:lnTo>
                    <a:pt x="24383999" y="0"/>
                  </a:lnTo>
                  <a:lnTo>
                    <a:pt x="24383999" y="1584960"/>
                  </a:lnTo>
                  <a:lnTo>
                    <a:pt x="0" y="1584960"/>
                  </a:lnTo>
                  <a:close/>
                </a:path>
              </a:pathLst>
            </a:custGeom>
            <a:solidFill>
              <a:srgbClr val="161B22"/>
            </a:solidFill>
          </p:spPr>
        </p:sp>
        <p:sp>
          <p:nvSpPr>
            <p:cNvPr name="Freeform 8" id="8"/>
            <p:cNvSpPr/>
            <p:nvPr/>
          </p:nvSpPr>
          <p:spPr>
            <a:xfrm flipH="false" flipV="false" rot="0">
              <a:off x="0" y="0"/>
              <a:ext cx="24417782" cy="1618742"/>
            </a:xfrm>
            <a:custGeom>
              <a:avLst/>
              <a:gdLst/>
              <a:ahLst/>
              <a:cxnLst/>
              <a:rect r="r" b="b" t="t" l="l"/>
              <a:pathLst>
                <a:path h="1618742" w="24417782">
                  <a:moveTo>
                    <a:pt x="16891" y="0"/>
                  </a:moveTo>
                  <a:lnTo>
                    <a:pt x="24400890" y="0"/>
                  </a:lnTo>
                  <a:cubicBezTo>
                    <a:pt x="24410290" y="0"/>
                    <a:pt x="24417782" y="7620"/>
                    <a:pt x="24417782" y="16891"/>
                  </a:cubicBezTo>
                  <a:lnTo>
                    <a:pt x="24417782" y="1601851"/>
                  </a:lnTo>
                  <a:cubicBezTo>
                    <a:pt x="24417782" y="1611249"/>
                    <a:pt x="24410163" y="1618742"/>
                    <a:pt x="24400890"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24400890" y="1584960"/>
                  </a:lnTo>
                  <a:lnTo>
                    <a:pt x="24400890" y="1601851"/>
                  </a:lnTo>
                  <a:lnTo>
                    <a:pt x="24384000" y="1601851"/>
                  </a:lnTo>
                  <a:lnTo>
                    <a:pt x="24384000" y="16891"/>
                  </a:lnTo>
                  <a:lnTo>
                    <a:pt x="24400890" y="16891"/>
                  </a:lnTo>
                  <a:lnTo>
                    <a:pt x="24400890" y="33909"/>
                  </a:lnTo>
                  <a:lnTo>
                    <a:pt x="16891" y="33909"/>
                  </a:lnTo>
                  <a:close/>
                </a:path>
              </a:pathLst>
            </a:custGeom>
            <a:solidFill>
              <a:srgbClr val="161B22"/>
            </a:solidFill>
          </p:spPr>
        </p:sp>
      </p:grpSp>
      <p:grpSp>
        <p:nvGrpSpPr>
          <p:cNvPr name="Group 9" id="9"/>
          <p:cNvGrpSpPr/>
          <p:nvPr/>
        </p:nvGrpSpPr>
        <p:grpSpPr>
          <a:xfrm rot="0">
            <a:off x="-25403" y="329184"/>
            <a:ext cx="18288000" cy="548640"/>
            <a:chOff x="0" y="0"/>
            <a:chExt cx="24384000" cy="731520"/>
          </a:xfrm>
        </p:grpSpPr>
        <p:sp>
          <p:nvSpPr>
            <p:cNvPr name="Freeform 10" id="10"/>
            <p:cNvSpPr/>
            <p:nvPr/>
          </p:nvSpPr>
          <p:spPr>
            <a:xfrm flipH="false" flipV="false" rot="0">
              <a:off x="0" y="0"/>
              <a:ext cx="24384003" cy="731520"/>
            </a:xfrm>
            <a:custGeom>
              <a:avLst/>
              <a:gdLst/>
              <a:ahLst/>
              <a:cxnLst/>
              <a:rect r="r" b="b" t="t" l="l"/>
              <a:pathLst>
                <a:path h="731520" w="24384003">
                  <a:moveTo>
                    <a:pt x="0" y="0"/>
                  </a:moveTo>
                  <a:lnTo>
                    <a:pt x="24384003" y="0"/>
                  </a:lnTo>
                  <a:lnTo>
                    <a:pt x="24384003" y="731520"/>
                  </a:lnTo>
                  <a:lnTo>
                    <a:pt x="0" y="731520"/>
                  </a:lnTo>
                  <a:close/>
                </a:path>
              </a:pathLst>
            </a:custGeom>
            <a:blipFill>
              <a:blip r:embed="rId4">
                <a:alphaModFix amt="0"/>
              </a:blip>
              <a:stretch>
                <a:fillRect l="0" t="-599501" r="0" b="-599501"/>
              </a:stretch>
            </a:blipFill>
          </p:spPr>
        </p:sp>
        <p:sp>
          <p:nvSpPr>
            <p:cNvPr name="TextBox 11" id="11"/>
            <p:cNvSpPr txBox="true"/>
            <p:nvPr/>
          </p:nvSpPr>
          <p:spPr>
            <a:xfrm>
              <a:off x="0" y="0"/>
              <a:ext cx="24384000" cy="731520"/>
            </a:xfrm>
            <a:prstGeom prst="rect">
              <a:avLst/>
            </a:prstGeom>
          </p:spPr>
          <p:txBody>
            <a:bodyPr anchor="ctr" rtlCol="false" tIns="0" lIns="0" bIns="0" rIns="0"/>
            <a:lstStyle/>
            <a:p>
              <a:pPr algn="ctr">
                <a:lnSpc>
                  <a:spcPts val="3359"/>
                </a:lnSpc>
              </a:pPr>
              <a:r>
                <a:rPr lang="en-US" b="true" sz="2799" spc="599">
                  <a:solidFill>
                    <a:srgbClr val="FFFFFF"/>
                  </a:solidFill>
                  <a:latin typeface="Open Sauce Bold"/>
                  <a:ea typeface="Open Sauce Bold"/>
                  <a:cs typeface="Open Sauce Bold"/>
                  <a:sym typeface="Open Sauce Bold"/>
                </a:rPr>
                <a:t>ASSIGNMENT II                                               22.DEVOPS TOOLCHAIN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5400000">
            <a:off x="9777022" y="1132914"/>
            <a:ext cx="9145756" cy="9162415"/>
          </a:xfrm>
          <a:custGeom>
            <a:avLst/>
            <a:gdLst/>
            <a:ahLst/>
            <a:cxnLst/>
            <a:rect r="r" b="b" t="t" l="l"/>
            <a:pathLst>
              <a:path h="9162415" w="9145756">
                <a:moveTo>
                  <a:pt x="9145756" y="0"/>
                </a:moveTo>
                <a:lnTo>
                  <a:pt x="0" y="0"/>
                </a:lnTo>
                <a:lnTo>
                  <a:pt x="0" y="9162415"/>
                </a:lnTo>
                <a:lnTo>
                  <a:pt x="9145756" y="9162415"/>
                </a:lnTo>
                <a:lnTo>
                  <a:pt x="91457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26440" y="-839650"/>
            <a:ext cx="7662403" cy="7662403"/>
          </a:xfrm>
          <a:custGeom>
            <a:avLst/>
            <a:gdLst/>
            <a:ahLst/>
            <a:cxnLst/>
            <a:rect r="r" b="b" t="t" l="l"/>
            <a:pathLst>
              <a:path h="7662403" w="7662403">
                <a:moveTo>
                  <a:pt x="0" y="0"/>
                </a:moveTo>
                <a:lnTo>
                  <a:pt x="7662403" y="0"/>
                </a:lnTo>
                <a:lnTo>
                  <a:pt x="7662403" y="7662403"/>
                </a:lnTo>
                <a:lnTo>
                  <a:pt x="0" y="76624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28084" y="805282"/>
            <a:ext cx="7098744" cy="986241"/>
          </a:xfrm>
          <a:prstGeom prst="rect">
            <a:avLst/>
          </a:prstGeom>
        </p:spPr>
        <p:txBody>
          <a:bodyPr anchor="t" rtlCol="false" tIns="0" lIns="0" bIns="0" rIns="0">
            <a:spAutoFit/>
          </a:bodyPr>
          <a:lstStyle/>
          <a:p>
            <a:pPr algn="just" marL="0" indent="0" lvl="0">
              <a:lnSpc>
                <a:spcPts val="7704"/>
              </a:lnSpc>
            </a:pPr>
            <a:r>
              <a:rPr lang="en-US" b="true" sz="6641" spc="-312">
                <a:solidFill>
                  <a:srgbClr val="FFFFFF"/>
                </a:solidFill>
                <a:latin typeface="Open Sauce Bold"/>
                <a:ea typeface="Open Sauce Bold"/>
                <a:cs typeface="Open Sauce Bold"/>
                <a:sym typeface="Open Sauce Bold"/>
              </a:rPr>
              <a:t>What is DevOps ?</a:t>
            </a:r>
          </a:p>
        </p:txBody>
      </p:sp>
      <p:sp>
        <p:nvSpPr>
          <p:cNvPr name="TextBox 5" id="5"/>
          <p:cNvSpPr txBox="true"/>
          <p:nvPr/>
        </p:nvSpPr>
        <p:spPr>
          <a:xfrm rot="0">
            <a:off x="228084" y="2044441"/>
            <a:ext cx="12646120" cy="1846596"/>
          </a:xfrm>
          <a:prstGeom prst="rect">
            <a:avLst/>
          </a:prstGeom>
        </p:spPr>
        <p:txBody>
          <a:bodyPr anchor="t" rtlCol="false" tIns="0" lIns="0" bIns="0" rIns="0">
            <a:spAutoFit/>
          </a:bodyPr>
          <a:lstStyle/>
          <a:p>
            <a:pPr algn="l">
              <a:lnSpc>
                <a:spcPts val="3744"/>
              </a:lnSpc>
              <a:spcBef>
                <a:spcPct val="0"/>
              </a:spcBef>
            </a:pPr>
            <a:r>
              <a:rPr lang="en-US" b="true" sz="2674" spc="5">
                <a:solidFill>
                  <a:srgbClr val="FFFFFF"/>
                </a:solidFill>
                <a:latin typeface="Open Sauce Bold"/>
                <a:ea typeface="Open Sauce Bold"/>
                <a:cs typeface="Open Sauce Bold"/>
                <a:sym typeface="Open Sauce Bold"/>
              </a:rPr>
              <a:t>DevOps is a modern approach to software development that brings development and operations teams together to deliver applications faster and more reliably. It focuses on collaboration, automation, and continuous improvement across the software lifecycle</a:t>
            </a:r>
          </a:p>
        </p:txBody>
      </p:sp>
      <p:sp>
        <p:nvSpPr>
          <p:cNvPr name="TextBox 6" id="6"/>
          <p:cNvSpPr txBox="true"/>
          <p:nvPr/>
        </p:nvSpPr>
        <p:spPr>
          <a:xfrm rot="0">
            <a:off x="4233481" y="5961317"/>
            <a:ext cx="5755362" cy="861436"/>
          </a:xfrm>
          <a:prstGeom prst="rect">
            <a:avLst/>
          </a:prstGeom>
        </p:spPr>
        <p:txBody>
          <a:bodyPr anchor="t" rtlCol="false" tIns="0" lIns="0" bIns="0" rIns="0">
            <a:spAutoFit/>
          </a:bodyPr>
          <a:lstStyle/>
          <a:p>
            <a:pPr algn="ctr">
              <a:lnSpc>
                <a:spcPts val="7119"/>
              </a:lnSpc>
              <a:spcBef>
                <a:spcPct val="0"/>
              </a:spcBef>
            </a:pPr>
            <a:r>
              <a:rPr lang="en-US" b="true" sz="5085" spc="10">
                <a:solidFill>
                  <a:srgbClr val="FFFFFF"/>
                </a:solidFill>
                <a:latin typeface="Open Sauce Bold"/>
                <a:ea typeface="Open Sauce Bold"/>
                <a:cs typeface="Open Sauce Bold"/>
                <a:sym typeface="Open Sauce Bold"/>
              </a:rPr>
              <a:t>DevOps LifeCycle</a:t>
            </a:r>
          </a:p>
        </p:txBody>
      </p:sp>
      <p:sp>
        <p:nvSpPr>
          <p:cNvPr name="TextBox 7" id="7"/>
          <p:cNvSpPr txBox="true"/>
          <p:nvPr/>
        </p:nvSpPr>
        <p:spPr>
          <a:xfrm rot="0">
            <a:off x="4233481" y="7250526"/>
            <a:ext cx="13518634" cy="1580807"/>
          </a:xfrm>
          <a:prstGeom prst="rect">
            <a:avLst/>
          </a:prstGeom>
        </p:spPr>
        <p:txBody>
          <a:bodyPr anchor="t" rtlCol="false" tIns="0" lIns="0" bIns="0" rIns="0">
            <a:spAutoFit/>
          </a:bodyPr>
          <a:lstStyle/>
          <a:p>
            <a:pPr algn="r">
              <a:lnSpc>
                <a:spcPts val="3168"/>
              </a:lnSpc>
              <a:spcBef>
                <a:spcPct val="0"/>
              </a:spcBef>
            </a:pPr>
            <a:r>
              <a:rPr lang="en-US" b="true" sz="2263" spc="4">
                <a:solidFill>
                  <a:srgbClr val="FFFFFF"/>
                </a:solidFill>
                <a:latin typeface="Open Sauce Bold"/>
                <a:ea typeface="Open Sauce Bold"/>
                <a:cs typeface="Open Sauce Bold"/>
                <a:sym typeface="Open Sauce Bold"/>
              </a:rPr>
              <a:t>The DevOps lifecycle is a c</a:t>
            </a:r>
            <a:r>
              <a:rPr lang="en-US" b="true" sz="2263" spc="4">
                <a:solidFill>
                  <a:srgbClr val="FFFFFF"/>
                </a:solidFill>
                <a:latin typeface="Open Sauce Bold"/>
                <a:ea typeface="Open Sauce Bold"/>
                <a:cs typeface="Open Sauce Bold"/>
                <a:sym typeface="Open Sauce Bold"/>
              </a:rPr>
              <a:t>ontinuous, iterative process, often visualized as an infinity loopcombining software development and IT operations to shorten development cycles and deliver high-quality software frequently. Key phases include Plan, Code, Build, Test, Release, Deploy, Operate, and Monitor, driven by automation and constant feedback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4269568">
            <a:off x="11640501" y="2453620"/>
            <a:ext cx="7270559" cy="7283802"/>
          </a:xfrm>
          <a:custGeom>
            <a:avLst/>
            <a:gdLst/>
            <a:ahLst/>
            <a:cxnLst/>
            <a:rect r="r" b="b" t="t" l="l"/>
            <a:pathLst>
              <a:path h="7283802" w="7270559">
                <a:moveTo>
                  <a:pt x="7270559" y="0"/>
                </a:moveTo>
                <a:lnTo>
                  <a:pt x="0" y="0"/>
                </a:lnTo>
                <a:lnTo>
                  <a:pt x="0" y="7283802"/>
                </a:lnTo>
                <a:lnTo>
                  <a:pt x="7270559" y="7283802"/>
                </a:lnTo>
                <a:lnTo>
                  <a:pt x="7270559"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168545">
            <a:off x="-4065904" y="5520395"/>
            <a:ext cx="10557087" cy="6024936"/>
            <a:chOff x="0" y="0"/>
            <a:chExt cx="1635569" cy="933420"/>
          </a:xfrm>
        </p:grpSpPr>
        <p:sp>
          <p:nvSpPr>
            <p:cNvPr name="Freeform 4" id="4"/>
            <p:cNvSpPr/>
            <p:nvPr/>
          </p:nvSpPr>
          <p:spPr>
            <a:xfrm flipH="false" flipV="false" rot="0">
              <a:off x="0" y="0"/>
              <a:ext cx="1635569" cy="933420"/>
            </a:xfrm>
            <a:custGeom>
              <a:avLst/>
              <a:gdLst/>
              <a:ahLst/>
              <a:cxnLst/>
              <a:rect r="r" b="b" t="t" l="l"/>
              <a:pathLst>
                <a:path h="933420" w="1635569">
                  <a:moveTo>
                    <a:pt x="57934" y="0"/>
                  </a:moveTo>
                  <a:lnTo>
                    <a:pt x="1577635" y="0"/>
                  </a:lnTo>
                  <a:cubicBezTo>
                    <a:pt x="1609631" y="0"/>
                    <a:pt x="1635569" y="25938"/>
                    <a:pt x="1635569" y="57934"/>
                  </a:cubicBezTo>
                  <a:lnTo>
                    <a:pt x="1635569" y="875486"/>
                  </a:lnTo>
                  <a:cubicBezTo>
                    <a:pt x="1635569" y="890851"/>
                    <a:pt x="1629465" y="905587"/>
                    <a:pt x="1618601" y="916452"/>
                  </a:cubicBezTo>
                  <a:cubicBezTo>
                    <a:pt x="1607736" y="927316"/>
                    <a:pt x="1593000" y="933420"/>
                    <a:pt x="1577635" y="933420"/>
                  </a:cubicBezTo>
                  <a:lnTo>
                    <a:pt x="57934" y="933420"/>
                  </a:lnTo>
                  <a:cubicBezTo>
                    <a:pt x="42569" y="933420"/>
                    <a:pt x="27833" y="927316"/>
                    <a:pt x="16968" y="916452"/>
                  </a:cubicBezTo>
                  <a:cubicBezTo>
                    <a:pt x="6104" y="905587"/>
                    <a:pt x="0" y="890851"/>
                    <a:pt x="0" y="875486"/>
                  </a:cubicBezTo>
                  <a:lnTo>
                    <a:pt x="0" y="57934"/>
                  </a:lnTo>
                  <a:cubicBezTo>
                    <a:pt x="0" y="42569"/>
                    <a:pt x="6104" y="27833"/>
                    <a:pt x="16968" y="16968"/>
                  </a:cubicBezTo>
                  <a:cubicBezTo>
                    <a:pt x="27833" y="6104"/>
                    <a:pt x="42569" y="0"/>
                    <a:pt x="57934" y="0"/>
                  </a:cubicBezTo>
                  <a:close/>
                </a:path>
              </a:pathLst>
            </a:custGeom>
            <a:blipFill>
              <a:blip r:embed="rId4"/>
              <a:stretch>
                <a:fillRect l="-29851" t="-25796" r="0" b="-25796"/>
              </a:stretch>
            </a:blipFill>
          </p:spPr>
        </p:sp>
      </p:grpSp>
      <p:sp>
        <p:nvSpPr>
          <p:cNvPr name="Freeform 5" id="5"/>
          <p:cNvSpPr/>
          <p:nvPr/>
        </p:nvSpPr>
        <p:spPr>
          <a:xfrm flipH="false" flipV="true" rot="0">
            <a:off x="15537139" y="7536139"/>
            <a:ext cx="2750861" cy="2750861"/>
          </a:xfrm>
          <a:custGeom>
            <a:avLst/>
            <a:gdLst/>
            <a:ahLst/>
            <a:cxnLst/>
            <a:rect r="r" b="b" t="t" l="l"/>
            <a:pathLst>
              <a:path h="2750861" w="2750861">
                <a:moveTo>
                  <a:pt x="0" y="2750861"/>
                </a:moveTo>
                <a:lnTo>
                  <a:pt x="2750861" y="2750861"/>
                </a:lnTo>
                <a:lnTo>
                  <a:pt x="2750861" y="0"/>
                </a:lnTo>
                <a:lnTo>
                  <a:pt x="0" y="0"/>
                </a:lnTo>
                <a:lnTo>
                  <a:pt x="0" y="2750861"/>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0" y="736603"/>
            <a:ext cx="18288000" cy="742315"/>
          </a:xfrm>
          <a:prstGeom prst="rect">
            <a:avLst/>
          </a:prstGeom>
        </p:spPr>
        <p:txBody>
          <a:bodyPr anchor="t" rtlCol="false" tIns="0" lIns="0" bIns="0" rIns="0">
            <a:spAutoFit/>
          </a:bodyPr>
          <a:lstStyle/>
          <a:p>
            <a:pPr algn="ctr" marL="0" indent="0" lvl="0">
              <a:lnSpc>
                <a:spcPts val="5719"/>
              </a:lnSpc>
            </a:pPr>
            <a:r>
              <a:rPr lang="en-US" b="true" sz="5199" spc="10">
                <a:solidFill>
                  <a:srgbClr val="FFFFFF"/>
                </a:solidFill>
                <a:latin typeface="Open Sauce Bold"/>
                <a:ea typeface="Open Sauce Bold"/>
                <a:cs typeface="Open Sauce Bold"/>
                <a:sym typeface="Open Sauce Bold"/>
              </a:rPr>
              <a:t>WHAT IS A DEVOPS TOOLCHAIN?</a:t>
            </a:r>
          </a:p>
        </p:txBody>
      </p:sp>
      <p:sp>
        <p:nvSpPr>
          <p:cNvPr name="TextBox 7" id="7"/>
          <p:cNvSpPr txBox="true"/>
          <p:nvPr/>
        </p:nvSpPr>
        <p:spPr>
          <a:xfrm rot="0">
            <a:off x="3381454" y="2276402"/>
            <a:ext cx="11525091" cy="5677046"/>
          </a:xfrm>
          <a:prstGeom prst="rect">
            <a:avLst/>
          </a:prstGeom>
        </p:spPr>
        <p:txBody>
          <a:bodyPr anchor="t" rtlCol="false" tIns="0" lIns="0" bIns="0" rIns="0">
            <a:spAutoFit/>
          </a:bodyPr>
          <a:lstStyle/>
          <a:p>
            <a:pPr algn="l" marL="639394" indent="-319697" lvl="1">
              <a:lnSpc>
                <a:spcPts val="4146"/>
              </a:lnSpc>
              <a:buFont typeface="Arial"/>
              <a:buChar char="•"/>
            </a:pPr>
            <a:r>
              <a:rPr lang="en-US" sz="2961" spc="5">
                <a:solidFill>
                  <a:srgbClr val="FFFFFF"/>
                </a:solidFill>
                <a:latin typeface="Open Sauce"/>
                <a:ea typeface="Open Sauce"/>
                <a:cs typeface="Open Sauce"/>
                <a:sym typeface="Open Sauce"/>
              </a:rPr>
              <a:t>A DevOps toolchain is a set of interconnected tools d</a:t>
            </a:r>
            <a:r>
              <a:rPr lang="en-US" sz="2961" spc="5">
                <a:solidFill>
                  <a:srgbClr val="FFFFFF"/>
                </a:solidFill>
                <a:latin typeface="Open Sauce"/>
                <a:ea typeface="Open Sauce"/>
                <a:cs typeface="Open Sauce"/>
                <a:sym typeface="Open Sauce"/>
              </a:rPr>
              <a:t>esigned to streamline and automate software development and operations processes. </a:t>
            </a:r>
          </a:p>
          <a:p>
            <a:pPr algn="l">
              <a:lnSpc>
                <a:spcPts val="4146"/>
              </a:lnSpc>
            </a:pPr>
          </a:p>
          <a:p>
            <a:pPr algn="l" marL="639394" indent="-319697" lvl="1">
              <a:lnSpc>
                <a:spcPts val="4146"/>
              </a:lnSpc>
              <a:buFont typeface="Arial"/>
              <a:buChar char="•"/>
            </a:pPr>
            <a:r>
              <a:rPr lang="en-US" sz="2961" spc="5">
                <a:solidFill>
                  <a:srgbClr val="FFFFFF"/>
                </a:solidFill>
                <a:latin typeface="Open Sauce"/>
                <a:ea typeface="Open Sauce"/>
                <a:cs typeface="Open Sauce"/>
                <a:sym typeface="Open Sauce"/>
              </a:rPr>
              <a:t>It facilitates collaboration by integrating tools supporting coding, building, testing, deployment, version control, monitoring tasks, and incident/issue response. </a:t>
            </a:r>
          </a:p>
          <a:p>
            <a:pPr algn="l">
              <a:lnSpc>
                <a:spcPts val="4146"/>
              </a:lnSpc>
            </a:pPr>
          </a:p>
          <a:p>
            <a:pPr algn="l" marL="639394" indent="-319697" lvl="1">
              <a:lnSpc>
                <a:spcPts val="4146"/>
              </a:lnSpc>
              <a:buFont typeface="Arial"/>
              <a:buChar char="•"/>
            </a:pPr>
            <a:r>
              <a:rPr lang="en-US" sz="2961" spc="5">
                <a:solidFill>
                  <a:srgbClr val="FFFFFF"/>
                </a:solidFill>
                <a:latin typeface="Open Sauce"/>
                <a:ea typeface="Open Sauce"/>
                <a:cs typeface="Open Sauce"/>
                <a:sym typeface="Open Sauce"/>
              </a:rPr>
              <a:t>By automating these tasks, the </a:t>
            </a:r>
            <a:r>
              <a:rPr lang="en-US" sz="2961" spc="5" u="none">
                <a:solidFill>
                  <a:srgbClr val="FFFFFF"/>
                </a:solidFill>
                <a:latin typeface="Open Sauce"/>
                <a:ea typeface="Open Sauce"/>
                <a:cs typeface="Open Sauce"/>
                <a:sym typeface="Open Sauce"/>
              </a:rPr>
              <a:t>DevOps </a:t>
            </a:r>
            <a:r>
              <a:rPr lang="en-US" sz="2961" spc="5">
                <a:solidFill>
                  <a:srgbClr val="FFFFFF"/>
                </a:solidFill>
                <a:latin typeface="Open Sauce"/>
                <a:ea typeface="Open Sauce"/>
                <a:cs typeface="Open Sauce"/>
                <a:sym typeface="Open Sauce"/>
              </a:rPr>
              <a:t>Toolchain hel</a:t>
            </a:r>
            <a:r>
              <a:rPr lang="en-US" sz="2961" spc="5" u="none">
                <a:solidFill>
                  <a:srgbClr val="FFFFFF"/>
                </a:solidFill>
                <a:latin typeface="Open Sauce"/>
                <a:ea typeface="Open Sauce"/>
                <a:cs typeface="Open Sauce"/>
                <a:sym typeface="Open Sauce"/>
              </a:rPr>
              <a:t>p</a:t>
            </a:r>
            <a:r>
              <a:rPr lang="en-US" sz="2961" spc="5">
                <a:solidFill>
                  <a:srgbClr val="FFFFFF"/>
                </a:solidFill>
                <a:latin typeface="Open Sauce"/>
                <a:ea typeface="Open Sauce"/>
                <a:cs typeface="Open Sauce"/>
                <a:sym typeface="Open Sauce"/>
              </a:rPr>
              <a:t>s ensu</a:t>
            </a:r>
            <a:r>
              <a:rPr lang="en-US" sz="2961" spc="5" u="none">
                <a:solidFill>
                  <a:srgbClr val="FFFFFF"/>
                </a:solidFill>
                <a:latin typeface="Open Sauce"/>
                <a:ea typeface="Open Sauce"/>
                <a:cs typeface="Open Sauce"/>
                <a:sym typeface="Open Sauce"/>
              </a:rPr>
              <a:t>r</a:t>
            </a:r>
            <a:r>
              <a:rPr lang="en-US" sz="2961" spc="5">
                <a:solidFill>
                  <a:srgbClr val="FFFFFF"/>
                </a:solidFill>
                <a:latin typeface="Open Sauce"/>
                <a:ea typeface="Open Sauce"/>
                <a:cs typeface="Open Sauce"/>
                <a:sym typeface="Open Sauce"/>
              </a:rPr>
              <a:t>e the </a:t>
            </a:r>
            <a:r>
              <a:rPr lang="en-US" sz="2961" spc="5" u="none">
                <a:solidFill>
                  <a:srgbClr val="FFFFFF"/>
                </a:solidFill>
                <a:latin typeface="Open Sauce"/>
                <a:ea typeface="Open Sauce"/>
                <a:cs typeface="Open Sauce"/>
                <a:sym typeface="Open Sauce"/>
              </a:rPr>
              <a:t>c</a:t>
            </a:r>
            <a:r>
              <a:rPr lang="en-US" sz="2961" spc="5">
                <a:solidFill>
                  <a:srgbClr val="FFFFFF"/>
                </a:solidFill>
                <a:latin typeface="Open Sauce"/>
                <a:ea typeface="Open Sauce"/>
                <a:cs typeface="Open Sauce"/>
                <a:sym typeface="Open Sauce"/>
              </a:rPr>
              <a:t>on</a:t>
            </a:r>
            <a:r>
              <a:rPr lang="en-US" sz="2961" spc="5" u="none">
                <a:solidFill>
                  <a:srgbClr val="FFFFFF"/>
                </a:solidFill>
                <a:latin typeface="Open Sauce"/>
                <a:ea typeface="Open Sauce"/>
                <a:cs typeface="Open Sauce"/>
                <a:sym typeface="Open Sauce"/>
              </a:rPr>
              <a:t>ti</a:t>
            </a:r>
            <a:r>
              <a:rPr lang="en-US" sz="2961" spc="5">
                <a:solidFill>
                  <a:srgbClr val="FFFFFF"/>
                </a:solidFill>
                <a:latin typeface="Open Sauce"/>
                <a:ea typeface="Open Sauce"/>
                <a:cs typeface="Open Sauce"/>
                <a:sym typeface="Open Sauce"/>
              </a:rPr>
              <a:t>nuous delivery of software and servi</a:t>
            </a:r>
            <a:r>
              <a:rPr lang="en-US" sz="2961" spc="5" u="none">
                <a:solidFill>
                  <a:srgbClr val="FFFFFF"/>
                </a:solidFill>
                <a:latin typeface="Open Sauce"/>
                <a:ea typeface="Open Sauce"/>
                <a:cs typeface="Open Sauce"/>
                <a:sym typeface="Open Sauce"/>
              </a:rPr>
              <a:t>ces</a:t>
            </a:r>
            <a:r>
              <a:rPr lang="en-US" sz="2961" spc="5">
                <a:solidFill>
                  <a:srgbClr val="FFFFFF"/>
                </a:solidFill>
                <a:latin typeface="Open Sauce"/>
                <a:ea typeface="Open Sauce"/>
                <a:cs typeface="Open Sauce"/>
                <a:sym typeface="Open Sauce"/>
              </a:rPr>
              <a:t>, minimizing the need for manual intervention.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4269568">
            <a:off x="11744245" y="3036862"/>
            <a:ext cx="6688073" cy="6700255"/>
          </a:xfrm>
          <a:custGeom>
            <a:avLst/>
            <a:gdLst/>
            <a:ahLst/>
            <a:cxnLst/>
            <a:rect r="r" b="b" t="t" l="l"/>
            <a:pathLst>
              <a:path h="6700255" w="6688073">
                <a:moveTo>
                  <a:pt x="6688073" y="0"/>
                </a:moveTo>
                <a:lnTo>
                  <a:pt x="0" y="0"/>
                </a:lnTo>
                <a:lnTo>
                  <a:pt x="0" y="6700256"/>
                </a:lnTo>
                <a:lnTo>
                  <a:pt x="6688073" y="6700256"/>
                </a:lnTo>
                <a:lnTo>
                  <a:pt x="66880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248391" y="7882869"/>
            <a:ext cx="2750861" cy="2750861"/>
          </a:xfrm>
          <a:custGeom>
            <a:avLst/>
            <a:gdLst/>
            <a:ahLst/>
            <a:cxnLst/>
            <a:rect r="r" b="b" t="t" l="l"/>
            <a:pathLst>
              <a:path h="2750861" w="2750861">
                <a:moveTo>
                  <a:pt x="0" y="2750862"/>
                </a:moveTo>
                <a:lnTo>
                  <a:pt x="2750862" y="2750862"/>
                </a:lnTo>
                <a:lnTo>
                  <a:pt x="2750862" y="0"/>
                </a:lnTo>
                <a:lnTo>
                  <a:pt x="0" y="0"/>
                </a:lnTo>
                <a:lnTo>
                  <a:pt x="0" y="27508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0082" y="722630"/>
            <a:ext cx="18288000" cy="659765"/>
          </a:xfrm>
          <a:prstGeom prst="rect">
            <a:avLst/>
          </a:prstGeom>
        </p:spPr>
        <p:txBody>
          <a:bodyPr anchor="t" rtlCol="false" tIns="0" lIns="0" bIns="0" rIns="0">
            <a:spAutoFit/>
          </a:bodyPr>
          <a:lstStyle/>
          <a:p>
            <a:pPr algn="ctr" marL="0" indent="0" lvl="0">
              <a:lnSpc>
                <a:spcPts val="5170"/>
              </a:lnSpc>
            </a:pPr>
            <a:r>
              <a:rPr lang="en-US" b="true" sz="4700" spc="9">
                <a:solidFill>
                  <a:srgbClr val="FFFFFF"/>
                </a:solidFill>
                <a:latin typeface="Open Sauce Bold"/>
                <a:ea typeface="Open Sauce Bold"/>
                <a:cs typeface="Open Sauce Bold"/>
                <a:sym typeface="Open Sauce Bold"/>
              </a:rPr>
              <a:t>WHY DO WE NEED DEVOPS TOOLCHAIN?</a:t>
            </a:r>
          </a:p>
        </p:txBody>
      </p:sp>
      <p:sp>
        <p:nvSpPr>
          <p:cNvPr name="TextBox 5" id="5"/>
          <p:cNvSpPr txBox="true"/>
          <p:nvPr/>
        </p:nvSpPr>
        <p:spPr>
          <a:xfrm rot="0">
            <a:off x="0" y="2644775"/>
            <a:ext cx="18288000" cy="4930775"/>
          </a:xfrm>
          <a:prstGeom prst="rect">
            <a:avLst/>
          </a:prstGeom>
        </p:spPr>
        <p:txBody>
          <a:bodyPr anchor="t" rtlCol="false" tIns="0" lIns="0" bIns="0" rIns="0">
            <a:spAutoFit/>
          </a:bodyPr>
          <a:lstStyle/>
          <a:p>
            <a:pPr algn="ctr">
              <a:lnSpc>
                <a:spcPts val="4900"/>
              </a:lnSpc>
              <a:spcBef>
                <a:spcPct val="0"/>
              </a:spcBef>
            </a:pPr>
            <a:r>
              <a:rPr lang="en-US" b="true" sz="3500" spc="7">
                <a:solidFill>
                  <a:srgbClr val="FFFFFF"/>
                </a:solidFill>
                <a:latin typeface="Open Sauce Bold"/>
                <a:ea typeface="Open Sauce Bold"/>
                <a:cs typeface="Open Sauce Bold"/>
                <a:sym typeface="Open Sauce Bold"/>
              </a:rPr>
              <a:t>A</a:t>
            </a:r>
            <a:r>
              <a:rPr lang="en-US" b="true" sz="3500" spc="7">
                <a:solidFill>
                  <a:srgbClr val="FFFFFF"/>
                </a:solidFill>
                <a:latin typeface="Open Sauce Bold"/>
                <a:ea typeface="Open Sauce Bold"/>
                <a:cs typeface="Open Sauce Bold"/>
                <a:sym typeface="Open Sauce Bold"/>
              </a:rPr>
              <a:t> DevOps Toolchain facilitates software and infrastructure development, delivery, and optimization.</a:t>
            </a:r>
          </a:p>
          <a:p>
            <a:pPr algn="ctr">
              <a:lnSpc>
                <a:spcPts val="4900"/>
              </a:lnSpc>
            </a:pPr>
          </a:p>
          <a:p>
            <a:pPr algn="l" marL="755651" indent="-377825" lvl="1">
              <a:lnSpc>
                <a:spcPts val="4900"/>
              </a:lnSpc>
              <a:buFont typeface="Arial"/>
              <a:buChar char="•"/>
            </a:pPr>
            <a:r>
              <a:rPr lang="en-US" b="true" sz="3500" spc="7">
                <a:solidFill>
                  <a:srgbClr val="FFFFFF"/>
                </a:solidFill>
                <a:latin typeface="Open Sauce Bold"/>
                <a:ea typeface="Open Sauce Bold"/>
                <a:cs typeface="Open Sauce Bold"/>
                <a:sym typeface="Open Sauce Bold"/>
              </a:rPr>
              <a:t>Accelerated Development Cycles </a:t>
            </a:r>
          </a:p>
          <a:p>
            <a:pPr algn="l" marL="755651" indent="-377825" lvl="1">
              <a:lnSpc>
                <a:spcPts val="4900"/>
              </a:lnSpc>
              <a:buFont typeface="Arial"/>
              <a:buChar char="•"/>
            </a:pPr>
            <a:r>
              <a:rPr lang="en-US" b="true" sz="3500" spc="7">
                <a:solidFill>
                  <a:srgbClr val="FFFFFF"/>
                </a:solidFill>
                <a:latin typeface="Open Sauce Bold"/>
                <a:ea typeface="Open Sauce Bold"/>
                <a:cs typeface="Open Sauce Bold"/>
                <a:sym typeface="Open Sauce Bold"/>
              </a:rPr>
              <a:t>Enhanced Collaboration and Communication </a:t>
            </a:r>
          </a:p>
          <a:p>
            <a:pPr algn="l" marL="755651" indent="-377825" lvl="1">
              <a:lnSpc>
                <a:spcPts val="4900"/>
              </a:lnSpc>
              <a:buFont typeface="Arial"/>
              <a:buChar char="•"/>
            </a:pPr>
            <a:r>
              <a:rPr lang="en-US" b="true" sz="3500" spc="7">
                <a:solidFill>
                  <a:srgbClr val="FFFFFF"/>
                </a:solidFill>
                <a:latin typeface="Open Sauce Bold"/>
                <a:ea typeface="Open Sauce Bold"/>
                <a:cs typeface="Open Sauce Bold"/>
                <a:sym typeface="Open Sauce Bold"/>
              </a:rPr>
              <a:t>Increased Deployment Frequency  </a:t>
            </a:r>
          </a:p>
          <a:p>
            <a:pPr algn="l" marL="755651" indent="-377825" lvl="1">
              <a:lnSpc>
                <a:spcPts val="4900"/>
              </a:lnSpc>
              <a:buFont typeface="Arial"/>
              <a:buChar char="•"/>
            </a:pPr>
            <a:r>
              <a:rPr lang="en-US" b="true" sz="3500" spc="7">
                <a:solidFill>
                  <a:srgbClr val="FFFFFF"/>
                </a:solidFill>
                <a:latin typeface="Open Sauce Bold"/>
                <a:ea typeface="Open Sauce Bold"/>
                <a:cs typeface="Open Sauce Bold"/>
                <a:sym typeface="Open Sauce Bold"/>
              </a:rPr>
              <a:t>Improved Quality and Reliability  </a:t>
            </a:r>
          </a:p>
          <a:p>
            <a:pPr algn="l" marL="755651" indent="-377825" lvl="1">
              <a:lnSpc>
                <a:spcPts val="4900"/>
              </a:lnSpc>
              <a:buFont typeface="Arial"/>
              <a:buChar char="•"/>
            </a:pPr>
            <a:r>
              <a:rPr lang="en-US" b="true" sz="3500" spc="7">
                <a:solidFill>
                  <a:srgbClr val="FFFFFF"/>
                </a:solidFill>
                <a:latin typeface="Open Sauce Bold"/>
                <a:ea typeface="Open Sauce Bold"/>
                <a:cs typeface="Open Sauce Bold"/>
                <a:sym typeface="Open Sauce Bold"/>
              </a:rPr>
              <a:t>Reduce problem mitigation time or Faster mean time to repair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5400000">
            <a:off x="-516278" y="-337502"/>
            <a:ext cx="7962927" cy="7962927"/>
          </a:xfrm>
          <a:custGeom>
            <a:avLst/>
            <a:gdLst/>
            <a:ahLst/>
            <a:cxnLst/>
            <a:rect r="r" b="b" t="t" l="l"/>
            <a:pathLst>
              <a:path h="7962927" w="7962927">
                <a:moveTo>
                  <a:pt x="7962927" y="7962927"/>
                </a:moveTo>
                <a:lnTo>
                  <a:pt x="0" y="7962927"/>
                </a:lnTo>
                <a:lnTo>
                  <a:pt x="0" y="0"/>
                </a:lnTo>
                <a:lnTo>
                  <a:pt x="7962927" y="0"/>
                </a:lnTo>
                <a:lnTo>
                  <a:pt x="7962927" y="796292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8187" y="364571"/>
            <a:ext cx="18231626" cy="966356"/>
          </a:xfrm>
          <a:prstGeom prst="rect">
            <a:avLst/>
          </a:prstGeom>
        </p:spPr>
        <p:txBody>
          <a:bodyPr anchor="t" rtlCol="false" tIns="0" lIns="0" bIns="0" rIns="0">
            <a:spAutoFit/>
          </a:bodyPr>
          <a:lstStyle/>
          <a:p>
            <a:pPr algn="ctr" marL="0" indent="0" lvl="0">
              <a:lnSpc>
                <a:spcPts val="7513"/>
              </a:lnSpc>
            </a:pPr>
            <a:r>
              <a:rPr lang="en-US" b="true" sz="6477" spc="-304">
                <a:solidFill>
                  <a:srgbClr val="FFFFFF"/>
                </a:solidFill>
                <a:latin typeface="Open Sauce Bold"/>
                <a:ea typeface="Open Sauce Bold"/>
                <a:cs typeface="Open Sauce Bold"/>
                <a:sym typeface="Open Sauce Bold"/>
              </a:rPr>
              <a:t>DevOps Toolchain in the Lifecycle</a:t>
            </a:r>
          </a:p>
        </p:txBody>
      </p:sp>
      <p:sp>
        <p:nvSpPr>
          <p:cNvPr name="Freeform 4" id="4"/>
          <p:cNvSpPr/>
          <p:nvPr/>
        </p:nvSpPr>
        <p:spPr>
          <a:xfrm flipH="true" flipV="false" rot="-5400000">
            <a:off x="11351345" y="3803802"/>
            <a:ext cx="7629348" cy="7643245"/>
          </a:xfrm>
          <a:custGeom>
            <a:avLst/>
            <a:gdLst/>
            <a:ahLst/>
            <a:cxnLst/>
            <a:rect r="r" b="b" t="t" l="l"/>
            <a:pathLst>
              <a:path h="7643245" w="7629348">
                <a:moveTo>
                  <a:pt x="7629348" y="0"/>
                </a:moveTo>
                <a:lnTo>
                  <a:pt x="0" y="0"/>
                </a:lnTo>
                <a:lnTo>
                  <a:pt x="0" y="7643245"/>
                </a:lnTo>
                <a:lnTo>
                  <a:pt x="7629348" y="7643245"/>
                </a:lnTo>
                <a:lnTo>
                  <a:pt x="762934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8187" y="1727154"/>
            <a:ext cx="18231626" cy="931545"/>
          </a:xfrm>
          <a:prstGeom prst="rect">
            <a:avLst/>
          </a:prstGeom>
        </p:spPr>
        <p:txBody>
          <a:bodyPr anchor="t" rtlCol="false" tIns="0" lIns="0" bIns="0" rIns="0">
            <a:spAutoFit/>
          </a:bodyPr>
          <a:lstStyle/>
          <a:p>
            <a:pPr algn="ctr">
              <a:lnSpc>
                <a:spcPts val="3779"/>
              </a:lnSpc>
              <a:spcBef>
                <a:spcPct val="0"/>
              </a:spcBef>
            </a:pPr>
            <a:r>
              <a:rPr lang="en-US" b="true" sz="2700" spc="5">
                <a:solidFill>
                  <a:srgbClr val="FFFFFF"/>
                </a:solidFill>
                <a:latin typeface="Open Sauce Bold"/>
                <a:ea typeface="Open Sauce Bold"/>
                <a:cs typeface="Open Sauce Bold"/>
                <a:sym typeface="Open Sauce Bold"/>
              </a:rPr>
              <a:t>DevOps toolchain has multiple tools that automate the entire DevOps lifecycle, from writting code to monitoring.</a:t>
            </a:r>
          </a:p>
        </p:txBody>
      </p:sp>
      <p:sp>
        <p:nvSpPr>
          <p:cNvPr name="TextBox 6" id="6"/>
          <p:cNvSpPr txBox="true"/>
          <p:nvPr/>
        </p:nvSpPr>
        <p:spPr>
          <a:xfrm rot="0">
            <a:off x="670843" y="2656159"/>
            <a:ext cx="4852749" cy="581359"/>
          </a:xfrm>
          <a:prstGeom prst="rect">
            <a:avLst/>
          </a:prstGeom>
        </p:spPr>
        <p:txBody>
          <a:bodyPr anchor="t" rtlCol="false" tIns="0" lIns="0" bIns="0" rIns="0">
            <a:spAutoFit/>
          </a:bodyPr>
          <a:lstStyle/>
          <a:p>
            <a:pPr algn="ctr">
              <a:lnSpc>
                <a:spcPts val="4706"/>
              </a:lnSpc>
              <a:spcBef>
                <a:spcPct val="0"/>
              </a:spcBef>
            </a:pPr>
            <a:r>
              <a:rPr lang="en-US" b="true" sz="3361" spc="6">
                <a:solidFill>
                  <a:srgbClr val="FFFFFF"/>
                </a:solidFill>
                <a:latin typeface="Open Sauce Bold"/>
                <a:ea typeface="Open Sauce Bold"/>
                <a:cs typeface="Open Sauce Bold"/>
                <a:sym typeface="Open Sauce Bold"/>
              </a:rPr>
              <a:t>Plan and Collaboration</a:t>
            </a:r>
          </a:p>
        </p:txBody>
      </p:sp>
      <p:sp>
        <p:nvSpPr>
          <p:cNvPr name="TextBox 7" id="7"/>
          <p:cNvSpPr txBox="true"/>
          <p:nvPr/>
        </p:nvSpPr>
        <p:spPr>
          <a:xfrm rot="0">
            <a:off x="815322" y="3428316"/>
            <a:ext cx="4563792" cy="5194935"/>
          </a:xfrm>
          <a:prstGeom prst="rect">
            <a:avLst/>
          </a:prstGeom>
        </p:spPr>
        <p:txBody>
          <a:bodyPr anchor="t" rtlCol="false" tIns="0" lIns="0" bIns="0" rIns="0">
            <a:spAutoFit/>
          </a:bodyPr>
          <a:lstStyle/>
          <a:p>
            <a:pPr algn="ctr">
              <a:lnSpc>
                <a:spcPts val="2939"/>
              </a:lnSpc>
            </a:pPr>
            <a:r>
              <a:rPr lang="en-US" b="true" sz="2099" spc="4">
                <a:solidFill>
                  <a:srgbClr val="FFFFFF"/>
                </a:solidFill>
                <a:latin typeface="Open Sauce Bold"/>
                <a:ea typeface="Open Sauce Bold"/>
                <a:cs typeface="Open Sauce Bold"/>
                <a:sym typeface="Open Sauce Bold"/>
              </a:rPr>
              <a:t>The cycle starts with defining project goals and writing the initial code. Collaboration tools, version control systems, and issue-tracking software keep teams aligned, facilitating project management and progress tracking.</a:t>
            </a:r>
          </a:p>
          <a:p>
            <a:pPr algn="ctr">
              <a:lnSpc>
                <a:spcPts val="2939"/>
              </a:lnSpc>
            </a:pPr>
          </a:p>
          <a:p>
            <a:pPr algn="ctr">
              <a:lnSpc>
                <a:spcPts val="2939"/>
              </a:lnSpc>
            </a:pPr>
            <a:r>
              <a:rPr lang="en-US" b="true" sz="2099" spc="4">
                <a:solidFill>
                  <a:srgbClr val="FFFFFF"/>
                </a:solidFill>
                <a:latin typeface="Open Sauce Bold"/>
                <a:ea typeface="Open Sauce Bold"/>
                <a:cs typeface="Open Sauce Bold"/>
                <a:sym typeface="Open Sauce Bold"/>
              </a:rPr>
              <a:t>Tool:</a:t>
            </a:r>
          </a:p>
          <a:p>
            <a:pPr algn="ctr">
              <a:lnSpc>
                <a:spcPts val="2939"/>
              </a:lnSpc>
              <a:spcBef>
                <a:spcPct val="0"/>
              </a:spcBef>
            </a:pPr>
            <a:r>
              <a:rPr lang="en-US" b="true" sz="2099" spc="4">
                <a:solidFill>
                  <a:srgbClr val="FFFFFF"/>
                </a:solidFill>
                <a:latin typeface="Open Sauce Bold"/>
                <a:ea typeface="Open Sauce Bold"/>
                <a:cs typeface="Open Sauce Bold"/>
                <a:sym typeface="Open Sauce Bold"/>
              </a:rPr>
              <a:t>Jira: A project management tool often used in agile software development and DevOps workflows.</a:t>
            </a:r>
          </a:p>
        </p:txBody>
      </p:sp>
      <p:sp>
        <p:nvSpPr>
          <p:cNvPr name="TextBox 8" id="8"/>
          <p:cNvSpPr txBox="true"/>
          <p:nvPr/>
        </p:nvSpPr>
        <p:spPr>
          <a:xfrm rot="0">
            <a:off x="6862104" y="4946383"/>
            <a:ext cx="4563792" cy="5059045"/>
          </a:xfrm>
          <a:prstGeom prst="rect">
            <a:avLst/>
          </a:prstGeom>
        </p:spPr>
        <p:txBody>
          <a:bodyPr anchor="t" rtlCol="false" tIns="0" lIns="0" bIns="0" rIns="0">
            <a:spAutoFit/>
          </a:bodyPr>
          <a:lstStyle/>
          <a:p>
            <a:pPr algn="ctr">
              <a:lnSpc>
                <a:spcPts val="3079"/>
              </a:lnSpc>
            </a:pPr>
            <a:r>
              <a:rPr lang="en-US" b="true" sz="2199" spc="4">
                <a:solidFill>
                  <a:srgbClr val="FFFFFF"/>
                </a:solidFill>
                <a:latin typeface="Open Sauce Bold"/>
                <a:ea typeface="Open Sauce Bold"/>
                <a:cs typeface="Open Sauce Bold"/>
                <a:sym typeface="Open Sauce Bold"/>
              </a:rPr>
              <a:t>In this stage, developers write and manage source code. Version control systems keep track of code changes and allow multiple developers to collaborate without conflicts.</a:t>
            </a:r>
          </a:p>
          <a:p>
            <a:pPr algn="ctr">
              <a:lnSpc>
                <a:spcPts val="3079"/>
              </a:lnSpc>
            </a:pPr>
          </a:p>
          <a:p>
            <a:pPr algn="ctr">
              <a:lnSpc>
                <a:spcPts val="3079"/>
              </a:lnSpc>
            </a:pPr>
            <a:r>
              <a:rPr lang="en-US" b="true" sz="2199" spc="4">
                <a:solidFill>
                  <a:srgbClr val="FFFFFF"/>
                </a:solidFill>
                <a:latin typeface="Open Sauce Bold"/>
                <a:ea typeface="Open Sauce Bold"/>
                <a:cs typeface="Open Sauce Bold"/>
                <a:sym typeface="Open Sauce Bold"/>
              </a:rPr>
              <a:t>Tool:</a:t>
            </a:r>
          </a:p>
          <a:p>
            <a:pPr algn="ctr">
              <a:lnSpc>
                <a:spcPts val="3079"/>
              </a:lnSpc>
              <a:spcBef>
                <a:spcPct val="0"/>
              </a:spcBef>
            </a:pPr>
            <a:r>
              <a:rPr lang="en-US" b="true" sz="2199" spc="4">
                <a:solidFill>
                  <a:srgbClr val="FFFFFF"/>
                </a:solidFill>
                <a:latin typeface="Open Sauce Bold"/>
                <a:ea typeface="Open Sauce Bold"/>
                <a:cs typeface="Open Sauce Bold"/>
                <a:sym typeface="Open Sauce Bold"/>
              </a:rPr>
              <a:t>Git: A widely-used distributed version control system that allows developers to track changes in code and collaborate.</a:t>
            </a:r>
          </a:p>
        </p:txBody>
      </p:sp>
      <p:sp>
        <p:nvSpPr>
          <p:cNvPr name="TextBox 9" id="9"/>
          <p:cNvSpPr txBox="true"/>
          <p:nvPr/>
        </p:nvSpPr>
        <p:spPr>
          <a:xfrm rot="0">
            <a:off x="5842575" y="4093662"/>
            <a:ext cx="6602849" cy="581359"/>
          </a:xfrm>
          <a:prstGeom prst="rect">
            <a:avLst/>
          </a:prstGeom>
        </p:spPr>
        <p:txBody>
          <a:bodyPr anchor="t" rtlCol="false" tIns="0" lIns="0" bIns="0" rIns="0">
            <a:spAutoFit/>
          </a:bodyPr>
          <a:lstStyle/>
          <a:p>
            <a:pPr algn="ctr">
              <a:lnSpc>
                <a:spcPts val="4706"/>
              </a:lnSpc>
              <a:spcBef>
                <a:spcPct val="0"/>
              </a:spcBef>
            </a:pPr>
            <a:r>
              <a:rPr lang="en-US" b="true" sz="3361" spc="6">
                <a:solidFill>
                  <a:srgbClr val="FFFFFF"/>
                </a:solidFill>
                <a:latin typeface="Open Sauce Bold"/>
                <a:ea typeface="Open Sauce Bold"/>
                <a:cs typeface="Open Sauce Bold"/>
                <a:sym typeface="Open Sauce Bold"/>
              </a:rPr>
              <a:t>Code-Version Control Systems</a:t>
            </a:r>
          </a:p>
        </p:txBody>
      </p:sp>
      <p:sp>
        <p:nvSpPr>
          <p:cNvPr name="TextBox 10" id="10"/>
          <p:cNvSpPr txBox="true"/>
          <p:nvPr/>
        </p:nvSpPr>
        <p:spPr>
          <a:xfrm rot="0">
            <a:off x="13059188" y="3605861"/>
            <a:ext cx="4563792" cy="4568825"/>
          </a:xfrm>
          <a:prstGeom prst="rect">
            <a:avLst/>
          </a:prstGeom>
        </p:spPr>
        <p:txBody>
          <a:bodyPr anchor="t" rtlCol="false" tIns="0" lIns="0" bIns="0" rIns="0">
            <a:spAutoFit/>
          </a:bodyPr>
          <a:lstStyle/>
          <a:p>
            <a:pPr algn="ctr">
              <a:lnSpc>
                <a:spcPts val="2799"/>
              </a:lnSpc>
            </a:pPr>
            <a:r>
              <a:rPr lang="en-US" b="true" sz="1999" spc="3">
                <a:solidFill>
                  <a:srgbClr val="FFFFFF"/>
                </a:solidFill>
                <a:latin typeface="Open Sauce Bold"/>
                <a:ea typeface="Open Sauce Bold"/>
                <a:cs typeface="Open Sauce Bold"/>
                <a:sym typeface="Open Sauce Bold"/>
              </a:rPr>
              <a:t>During this stage, the code from developers is automatically integrated and built into executable software. Continuous Integration tools ensure that new code changes do not break the existing system.</a:t>
            </a:r>
          </a:p>
          <a:p>
            <a:pPr algn="ctr">
              <a:lnSpc>
                <a:spcPts val="2799"/>
              </a:lnSpc>
            </a:pPr>
          </a:p>
          <a:p>
            <a:pPr algn="ctr">
              <a:lnSpc>
                <a:spcPts val="2799"/>
              </a:lnSpc>
            </a:pPr>
            <a:r>
              <a:rPr lang="en-US" b="true" sz="1999" spc="3">
                <a:solidFill>
                  <a:srgbClr val="FFFFFF"/>
                </a:solidFill>
                <a:latin typeface="Open Sauce Bold"/>
                <a:ea typeface="Open Sauce Bold"/>
                <a:cs typeface="Open Sauce Bold"/>
                <a:sym typeface="Open Sauce Bold"/>
              </a:rPr>
              <a:t>Tool:</a:t>
            </a:r>
          </a:p>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Jenkins: An open-source automation server that supports building, testing, and deploying applications.</a:t>
            </a:r>
          </a:p>
        </p:txBody>
      </p:sp>
      <p:sp>
        <p:nvSpPr>
          <p:cNvPr name="TextBox 11" id="11"/>
          <p:cNvSpPr txBox="true"/>
          <p:nvPr/>
        </p:nvSpPr>
        <p:spPr>
          <a:xfrm rot="0">
            <a:off x="12113044" y="2932420"/>
            <a:ext cx="6105949" cy="543521"/>
          </a:xfrm>
          <a:prstGeom prst="rect">
            <a:avLst/>
          </a:prstGeom>
        </p:spPr>
        <p:txBody>
          <a:bodyPr anchor="t" rtlCol="false" tIns="0" lIns="0" bIns="0" rIns="0">
            <a:spAutoFit/>
          </a:bodyPr>
          <a:lstStyle/>
          <a:p>
            <a:pPr algn="ctr">
              <a:lnSpc>
                <a:spcPts val="4426"/>
              </a:lnSpc>
              <a:spcBef>
                <a:spcPct val="0"/>
              </a:spcBef>
            </a:pPr>
            <a:r>
              <a:rPr lang="en-US" b="true" sz="3161" spc="6">
                <a:solidFill>
                  <a:srgbClr val="FFFFFF"/>
                </a:solidFill>
                <a:latin typeface="Open Sauce Bold"/>
                <a:ea typeface="Open Sauce Bold"/>
                <a:cs typeface="Open Sauce Bold"/>
                <a:sym typeface="Open Sauce Bold"/>
              </a:rPr>
              <a:t>Build &amp; Continuous Integration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0734914" y="-869322"/>
            <a:ext cx="8558066" cy="8573655"/>
          </a:xfrm>
          <a:custGeom>
            <a:avLst/>
            <a:gdLst/>
            <a:ahLst/>
            <a:cxnLst/>
            <a:rect r="r" b="b" t="t" l="l"/>
            <a:pathLst>
              <a:path h="8573655" w="8558066">
                <a:moveTo>
                  <a:pt x="0" y="0"/>
                </a:moveTo>
                <a:lnTo>
                  <a:pt x="8558067" y="0"/>
                </a:lnTo>
                <a:lnTo>
                  <a:pt x="8558067" y="8573655"/>
                </a:lnTo>
                <a:lnTo>
                  <a:pt x="0" y="85736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857400" y="4947786"/>
            <a:ext cx="6611341" cy="6611341"/>
          </a:xfrm>
          <a:custGeom>
            <a:avLst/>
            <a:gdLst/>
            <a:ahLst/>
            <a:cxnLst/>
            <a:rect r="r" b="b" t="t" l="l"/>
            <a:pathLst>
              <a:path h="6611341" w="6611341">
                <a:moveTo>
                  <a:pt x="6611341" y="6611341"/>
                </a:moveTo>
                <a:lnTo>
                  <a:pt x="0" y="6611341"/>
                </a:lnTo>
                <a:lnTo>
                  <a:pt x="0" y="0"/>
                </a:lnTo>
                <a:lnTo>
                  <a:pt x="6611341" y="0"/>
                </a:lnTo>
                <a:lnTo>
                  <a:pt x="6611341" y="66113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68293" y="1527080"/>
            <a:ext cx="4563792" cy="3863975"/>
          </a:xfrm>
          <a:prstGeom prst="rect">
            <a:avLst/>
          </a:prstGeom>
        </p:spPr>
        <p:txBody>
          <a:bodyPr anchor="t" rtlCol="false" tIns="0" lIns="0" bIns="0" rIns="0">
            <a:spAutoFit/>
          </a:bodyPr>
          <a:lstStyle/>
          <a:p>
            <a:pPr algn="ctr">
              <a:lnSpc>
                <a:spcPts val="2799"/>
              </a:lnSpc>
            </a:pPr>
            <a:r>
              <a:rPr lang="en-US" b="true" sz="1999" spc="3">
                <a:solidFill>
                  <a:srgbClr val="FFFFFF"/>
                </a:solidFill>
                <a:latin typeface="Open Sauce Bold"/>
                <a:ea typeface="Open Sauce Bold"/>
                <a:cs typeface="Open Sauce Bold"/>
                <a:sym typeface="Open Sauce Bold"/>
              </a:rPr>
              <a:t>In the testing stage, the application is automatically tested to identify bugs, vulnerabilities, and performance issues before deployment.</a:t>
            </a:r>
          </a:p>
          <a:p>
            <a:pPr algn="ctr">
              <a:lnSpc>
                <a:spcPts val="2799"/>
              </a:lnSpc>
            </a:pPr>
          </a:p>
          <a:p>
            <a:pPr algn="ctr">
              <a:lnSpc>
                <a:spcPts val="2799"/>
              </a:lnSpc>
            </a:pPr>
            <a:r>
              <a:rPr lang="en-US" b="true" sz="1999" spc="3">
                <a:solidFill>
                  <a:srgbClr val="FFFFFF"/>
                </a:solidFill>
                <a:latin typeface="Open Sauce Bold"/>
                <a:ea typeface="Open Sauce Bold"/>
                <a:cs typeface="Open Sauce Bold"/>
                <a:sym typeface="Open Sauce Bold"/>
              </a:rPr>
              <a:t>Tool:</a:t>
            </a:r>
          </a:p>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SonarQube: A tool for continuous inspection of code quality, focusing on bug detection and vulnerability management.</a:t>
            </a:r>
          </a:p>
        </p:txBody>
      </p:sp>
      <p:sp>
        <p:nvSpPr>
          <p:cNvPr name="TextBox 5" id="5"/>
          <p:cNvSpPr txBox="true"/>
          <p:nvPr/>
        </p:nvSpPr>
        <p:spPr>
          <a:xfrm rot="0">
            <a:off x="326231" y="793059"/>
            <a:ext cx="5047916" cy="543521"/>
          </a:xfrm>
          <a:prstGeom prst="rect">
            <a:avLst/>
          </a:prstGeom>
        </p:spPr>
        <p:txBody>
          <a:bodyPr anchor="t" rtlCol="false" tIns="0" lIns="0" bIns="0" rIns="0">
            <a:spAutoFit/>
          </a:bodyPr>
          <a:lstStyle/>
          <a:p>
            <a:pPr algn="ctr">
              <a:lnSpc>
                <a:spcPts val="4426"/>
              </a:lnSpc>
              <a:spcBef>
                <a:spcPct val="0"/>
              </a:spcBef>
            </a:pPr>
            <a:r>
              <a:rPr lang="en-US" b="true" sz="3161" spc="6">
                <a:solidFill>
                  <a:srgbClr val="FFFFFF"/>
                </a:solidFill>
                <a:latin typeface="Open Sauce Bold"/>
                <a:ea typeface="Open Sauce Bold"/>
                <a:cs typeface="Open Sauce Bold"/>
                <a:sym typeface="Open Sauce Bold"/>
              </a:rPr>
              <a:t>Test – Automated Testing</a:t>
            </a:r>
          </a:p>
        </p:txBody>
      </p:sp>
      <p:sp>
        <p:nvSpPr>
          <p:cNvPr name="TextBox 6" id="6"/>
          <p:cNvSpPr txBox="true"/>
          <p:nvPr/>
        </p:nvSpPr>
        <p:spPr>
          <a:xfrm rot="0">
            <a:off x="6204909" y="2997046"/>
            <a:ext cx="4563792" cy="4216400"/>
          </a:xfrm>
          <a:prstGeom prst="rect">
            <a:avLst/>
          </a:prstGeom>
        </p:spPr>
        <p:txBody>
          <a:bodyPr anchor="t" rtlCol="false" tIns="0" lIns="0" bIns="0" rIns="0">
            <a:spAutoFit/>
          </a:bodyPr>
          <a:lstStyle/>
          <a:p>
            <a:pPr algn="ctr">
              <a:lnSpc>
                <a:spcPts val="2799"/>
              </a:lnSpc>
            </a:pPr>
            <a:r>
              <a:rPr lang="en-US" b="true" sz="1999" spc="3">
                <a:solidFill>
                  <a:srgbClr val="FFFFFF"/>
                </a:solidFill>
                <a:latin typeface="Open Sauce Bold"/>
                <a:ea typeface="Open Sauce Bold"/>
                <a:cs typeface="Open Sauce Bold"/>
                <a:sym typeface="Open Sauce Bold"/>
              </a:rPr>
              <a:t>Once the software is built and tested, the resulting build artifacts (libraries, packages, or container images) must be stored in a repository so they can be reused or deployed later.</a:t>
            </a:r>
          </a:p>
          <a:p>
            <a:pPr algn="ctr">
              <a:lnSpc>
                <a:spcPts val="2799"/>
              </a:lnSpc>
            </a:pPr>
          </a:p>
          <a:p>
            <a:pPr algn="ctr">
              <a:lnSpc>
                <a:spcPts val="2799"/>
              </a:lnSpc>
            </a:pPr>
            <a:r>
              <a:rPr lang="en-US" b="true" sz="1999" spc="3">
                <a:solidFill>
                  <a:srgbClr val="FFFFFF"/>
                </a:solidFill>
                <a:latin typeface="Open Sauce Bold"/>
                <a:ea typeface="Open Sauce Bold"/>
                <a:cs typeface="Open Sauce Bold"/>
                <a:sym typeface="Open Sauce Bold"/>
              </a:rPr>
              <a:t>Tool:</a:t>
            </a:r>
          </a:p>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Nexus Repository: A repository manager for storing and retrieving build artifacts, dependencies, and containers.</a:t>
            </a:r>
          </a:p>
        </p:txBody>
      </p:sp>
      <p:sp>
        <p:nvSpPr>
          <p:cNvPr name="TextBox 7" id="7"/>
          <p:cNvSpPr txBox="true"/>
          <p:nvPr/>
        </p:nvSpPr>
        <p:spPr>
          <a:xfrm rot="0">
            <a:off x="5702056" y="2263025"/>
            <a:ext cx="5569497" cy="543521"/>
          </a:xfrm>
          <a:prstGeom prst="rect">
            <a:avLst/>
          </a:prstGeom>
        </p:spPr>
        <p:txBody>
          <a:bodyPr anchor="t" rtlCol="false" tIns="0" lIns="0" bIns="0" rIns="0">
            <a:spAutoFit/>
          </a:bodyPr>
          <a:lstStyle/>
          <a:p>
            <a:pPr algn="ctr">
              <a:lnSpc>
                <a:spcPts val="4426"/>
              </a:lnSpc>
              <a:spcBef>
                <a:spcPct val="0"/>
              </a:spcBef>
            </a:pPr>
            <a:r>
              <a:rPr lang="en-US" b="true" sz="3161" spc="6">
                <a:solidFill>
                  <a:srgbClr val="FFFFFF"/>
                </a:solidFill>
                <a:latin typeface="Open Sauce Bold"/>
                <a:ea typeface="Open Sauce Bold"/>
                <a:cs typeface="Open Sauce Bold"/>
                <a:sym typeface="Open Sauce Bold"/>
              </a:rPr>
              <a:t> Package &amp; Artifact Storage</a:t>
            </a:r>
          </a:p>
        </p:txBody>
      </p:sp>
      <p:sp>
        <p:nvSpPr>
          <p:cNvPr name="TextBox 8" id="8"/>
          <p:cNvSpPr txBox="true"/>
          <p:nvPr/>
        </p:nvSpPr>
        <p:spPr>
          <a:xfrm rot="0">
            <a:off x="12447241" y="5105400"/>
            <a:ext cx="4563792" cy="3863975"/>
          </a:xfrm>
          <a:prstGeom prst="rect">
            <a:avLst/>
          </a:prstGeom>
        </p:spPr>
        <p:txBody>
          <a:bodyPr anchor="t" rtlCol="false" tIns="0" lIns="0" bIns="0" rIns="0">
            <a:spAutoFit/>
          </a:bodyPr>
          <a:lstStyle/>
          <a:p>
            <a:pPr algn="ctr">
              <a:lnSpc>
                <a:spcPts val="2799"/>
              </a:lnSpc>
            </a:pPr>
            <a:r>
              <a:rPr lang="en-US" b="true" sz="1999" spc="3">
                <a:solidFill>
                  <a:srgbClr val="FFFFFF"/>
                </a:solidFill>
                <a:latin typeface="Open Sauce Bold"/>
                <a:ea typeface="Open Sauce Bold"/>
                <a:cs typeface="Open Sauce Bold"/>
                <a:sym typeface="Open Sauce Bold"/>
              </a:rPr>
              <a:t>This stage focuses on deploying the application to production environments. Containerization ensures applications run consistently across different environments.</a:t>
            </a:r>
          </a:p>
          <a:p>
            <a:pPr algn="ctr">
              <a:lnSpc>
                <a:spcPts val="2799"/>
              </a:lnSpc>
            </a:pPr>
          </a:p>
          <a:p>
            <a:pPr algn="ctr">
              <a:lnSpc>
                <a:spcPts val="2799"/>
              </a:lnSpc>
            </a:pPr>
            <a:r>
              <a:rPr lang="en-US" b="true" sz="1999" spc="3">
                <a:solidFill>
                  <a:srgbClr val="FFFFFF"/>
                </a:solidFill>
                <a:latin typeface="Open Sauce Bold"/>
                <a:ea typeface="Open Sauce Bold"/>
                <a:cs typeface="Open Sauce Bold"/>
                <a:sym typeface="Open Sauce Bold"/>
              </a:rPr>
              <a:t>Tool:</a:t>
            </a:r>
          </a:p>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Docker: A tool for containerizing applications to ensure consistency across environments.</a:t>
            </a:r>
          </a:p>
        </p:txBody>
      </p:sp>
      <p:sp>
        <p:nvSpPr>
          <p:cNvPr name="TextBox 9" id="9"/>
          <p:cNvSpPr txBox="true"/>
          <p:nvPr/>
        </p:nvSpPr>
        <p:spPr>
          <a:xfrm rot="0">
            <a:off x="11605670" y="4404265"/>
            <a:ext cx="6246932" cy="543521"/>
          </a:xfrm>
          <a:prstGeom prst="rect">
            <a:avLst/>
          </a:prstGeom>
        </p:spPr>
        <p:txBody>
          <a:bodyPr anchor="t" rtlCol="false" tIns="0" lIns="0" bIns="0" rIns="0">
            <a:spAutoFit/>
          </a:bodyPr>
          <a:lstStyle/>
          <a:p>
            <a:pPr algn="ctr">
              <a:lnSpc>
                <a:spcPts val="4426"/>
              </a:lnSpc>
              <a:spcBef>
                <a:spcPct val="0"/>
              </a:spcBef>
            </a:pPr>
            <a:r>
              <a:rPr lang="en-US" b="true" sz="3161" spc="6">
                <a:solidFill>
                  <a:srgbClr val="FFFFFF"/>
                </a:solidFill>
                <a:latin typeface="Open Sauce Bold"/>
                <a:ea typeface="Open Sauce Bold"/>
                <a:cs typeface="Open Sauce Bold"/>
                <a:sym typeface="Open Sauce Bold"/>
              </a:rPr>
              <a:t>Containerization &amp; Deployment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449175" y="-220557"/>
            <a:ext cx="8558066" cy="8573655"/>
          </a:xfrm>
          <a:custGeom>
            <a:avLst/>
            <a:gdLst/>
            <a:ahLst/>
            <a:cxnLst/>
            <a:rect r="r" b="b" t="t" l="l"/>
            <a:pathLst>
              <a:path h="8573655" w="8558066">
                <a:moveTo>
                  <a:pt x="0" y="8573655"/>
                </a:moveTo>
                <a:lnTo>
                  <a:pt x="8558067" y="8573655"/>
                </a:lnTo>
                <a:lnTo>
                  <a:pt x="8558067"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1497756" y="7411878"/>
            <a:ext cx="5653784" cy="5653784"/>
          </a:xfrm>
          <a:custGeom>
            <a:avLst/>
            <a:gdLst/>
            <a:ahLst/>
            <a:cxnLst/>
            <a:rect r="r" b="b" t="t" l="l"/>
            <a:pathLst>
              <a:path h="5653784" w="5653784">
                <a:moveTo>
                  <a:pt x="0" y="5653783"/>
                </a:moveTo>
                <a:lnTo>
                  <a:pt x="5653783" y="5653783"/>
                </a:lnTo>
                <a:lnTo>
                  <a:pt x="5653783" y="0"/>
                </a:lnTo>
                <a:lnTo>
                  <a:pt x="0" y="0"/>
                </a:lnTo>
                <a:lnTo>
                  <a:pt x="0" y="565378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139105" y="2045296"/>
            <a:ext cx="4563792" cy="4668520"/>
          </a:xfrm>
          <a:prstGeom prst="rect">
            <a:avLst/>
          </a:prstGeom>
        </p:spPr>
        <p:txBody>
          <a:bodyPr anchor="t" rtlCol="false" tIns="0" lIns="0" bIns="0" rIns="0">
            <a:spAutoFit/>
          </a:bodyPr>
          <a:lstStyle/>
          <a:p>
            <a:pPr algn="ctr">
              <a:lnSpc>
                <a:spcPts val="3079"/>
              </a:lnSpc>
            </a:pPr>
            <a:r>
              <a:rPr lang="en-US" b="true" sz="2199" spc="4">
                <a:solidFill>
                  <a:srgbClr val="FFFFFF"/>
                </a:solidFill>
                <a:latin typeface="Open Sauce Bold"/>
                <a:ea typeface="Open Sauce Bold"/>
                <a:cs typeface="Open Sauce Bold"/>
                <a:sym typeface="Open Sauce Bold"/>
              </a:rPr>
              <a:t>Configuration management ensures that servers and environments are configured consistently across development, testing, and production systems.</a:t>
            </a:r>
          </a:p>
          <a:p>
            <a:pPr algn="ctr">
              <a:lnSpc>
                <a:spcPts val="3079"/>
              </a:lnSpc>
            </a:pPr>
          </a:p>
          <a:p>
            <a:pPr algn="ctr">
              <a:lnSpc>
                <a:spcPts val="3079"/>
              </a:lnSpc>
            </a:pPr>
            <a:r>
              <a:rPr lang="en-US" b="true" sz="2199" spc="4">
                <a:solidFill>
                  <a:srgbClr val="FFFFFF"/>
                </a:solidFill>
                <a:latin typeface="Open Sauce Bold"/>
                <a:ea typeface="Open Sauce Bold"/>
                <a:cs typeface="Open Sauce Bold"/>
                <a:sym typeface="Open Sauce Bold"/>
              </a:rPr>
              <a:t>Tool:</a:t>
            </a:r>
          </a:p>
          <a:p>
            <a:pPr algn="ctr">
              <a:lnSpc>
                <a:spcPts val="3079"/>
              </a:lnSpc>
              <a:spcBef>
                <a:spcPct val="0"/>
              </a:spcBef>
            </a:pPr>
            <a:r>
              <a:rPr lang="en-US" b="true" sz="2199" spc="4">
                <a:solidFill>
                  <a:srgbClr val="FFFFFF"/>
                </a:solidFill>
                <a:latin typeface="Open Sauce Bold"/>
                <a:ea typeface="Open Sauce Bold"/>
                <a:cs typeface="Open Sauce Bold"/>
                <a:sym typeface="Open Sauce Bold"/>
              </a:rPr>
              <a:t>Ansible – An open-source tool for automating configuration management, provisioning, and deployment.</a:t>
            </a:r>
          </a:p>
        </p:txBody>
      </p:sp>
      <p:sp>
        <p:nvSpPr>
          <p:cNvPr name="TextBox 5" id="5"/>
          <p:cNvSpPr txBox="true"/>
          <p:nvPr/>
        </p:nvSpPr>
        <p:spPr>
          <a:xfrm rot="0">
            <a:off x="11604041" y="1311275"/>
            <a:ext cx="5633918" cy="555324"/>
          </a:xfrm>
          <a:prstGeom prst="rect">
            <a:avLst/>
          </a:prstGeom>
        </p:spPr>
        <p:txBody>
          <a:bodyPr anchor="t" rtlCol="false" tIns="0" lIns="0" bIns="0" rIns="0">
            <a:spAutoFit/>
          </a:bodyPr>
          <a:lstStyle/>
          <a:p>
            <a:pPr algn="ctr">
              <a:lnSpc>
                <a:spcPts val="4566"/>
              </a:lnSpc>
              <a:spcBef>
                <a:spcPct val="0"/>
              </a:spcBef>
            </a:pPr>
            <a:r>
              <a:rPr lang="en-US" b="true" sz="3261" spc="6">
                <a:solidFill>
                  <a:srgbClr val="FFFFFF"/>
                </a:solidFill>
                <a:latin typeface="Open Sauce Bold"/>
                <a:ea typeface="Open Sauce Bold"/>
                <a:cs typeface="Open Sauce Bold"/>
                <a:sym typeface="Open Sauce Bold"/>
              </a:rPr>
              <a:t>Configuration Management</a:t>
            </a:r>
          </a:p>
        </p:txBody>
      </p:sp>
      <p:sp>
        <p:nvSpPr>
          <p:cNvPr name="TextBox 6" id="6"/>
          <p:cNvSpPr txBox="true"/>
          <p:nvPr/>
        </p:nvSpPr>
        <p:spPr>
          <a:xfrm rot="0">
            <a:off x="6808224" y="3657898"/>
            <a:ext cx="4563792" cy="5059045"/>
          </a:xfrm>
          <a:prstGeom prst="rect">
            <a:avLst/>
          </a:prstGeom>
        </p:spPr>
        <p:txBody>
          <a:bodyPr anchor="t" rtlCol="false" tIns="0" lIns="0" bIns="0" rIns="0">
            <a:spAutoFit/>
          </a:bodyPr>
          <a:lstStyle/>
          <a:p>
            <a:pPr algn="ctr">
              <a:lnSpc>
                <a:spcPts val="3079"/>
              </a:lnSpc>
            </a:pPr>
            <a:r>
              <a:rPr lang="en-US" b="true" sz="2199" spc="4">
                <a:solidFill>
                  <a:srgbClr val="FFFFFF"/>
                </a:solidFill>
                <a:latin typeface="Open Sauce Bold"/>
                <a:ea typeface="Open Sauce Bold"/>
                <a:cs typeface="Open Sauce Bold"/>
                <a:sym typeface="Open Sauce Bold"/>
              </a:rPr>
              <a:t>Infrastructure as Code allows developers to manage infrastructure using code instead of manual configuration, making infrastructure scalable and repeatable.</a:t>
            </a:r>
          </a:p>
          <a:p>
            <a:pPr algn="ctr">
              <a:lnSpc>
                <a:spcPts val="3079"/>
              </a:lnSpc>
            </a:pPr>
          </a:p>
          <a:p>
            <a:pPr algn="ctr">
              <a:lnSpc>
                <a:spcPts val="3079"/>
              </a:lnSpc>
            </a:pPr>
            <a:r>
              <a:rPr lang="en-US" b="true" sz="2199" spc="4">
                <a:solidFill>
                  <a:srgbClr val="FFFFFF"/>
                </a:solidFill>
                <a:latin typeface="Open Sauce Bold"/>
                <a:ea typeface="Open Sauce Bold"/>
                <a:cs typeface="Open Sauce Bold"/>
                <a:sym typeface="Open Sauce Bold"/>
              </a:rPr>
              <a:t>Tool:</a:t>
            </a:r>
          </a:p>
          <a:p>
            <a:pPr algn="ctr">
              <a:lnSpc>
                <a:spcPts val="3079"/>
              </a:lnSpc>
              <a:spcBef>
                <a:spcPct val="0"/>
              </a:spcBef>
            </a:pPr>
            <a:r>
              <a:rPr lang="en-US" b="true" sz="2199" spc="4">
                <a:solidFill>
                  <a:srgbClr val="FFFFFF"/>
                </a:solidFill>
                <a:latin typeface="Open Sauce Bold"/>
                <a:ea typeface="Open Sauce Bold"/>
                <a:cs typeface="Open Sauce Bold"/>
                <a:sym typeface="Open Sauce Bold"/>
              </a:rPr>
              <a:t>Terraform: An infrastructure-as-code tool that allows you to define cloud and on-premise resources in a declarative language.</a:t>
            </a:r>
          </a:p>
        </p:txBody>
      </p:sp>
      <p:sp>
        <p:nvSpPr>
          <p:cNvPr name="TextBox 7" id="7"/>
          <p:cNvSpPr txBox="true"/>
          <p:nvPr/>
        </p:nvSpPr>
        <p:spPr>
          <a:xfrm rot="0">
            <a:off x="6762984" y="2923877"/>
            <a:ext cx="4654272" cy="555324"/>
          </a:xfrm>
          <a:prstGeom prst="rect">
            <a:avLst/>
          </a:prstGeom>
        </p:spPr>
        <p:txBody>
          <a:bodyPr anchor="t" rtlCol="false" tIns="0" lIns="0" bIns="0" rIns="0">
            <a:spAutoFit/>
          </a:bodyPr>
          <a:lstStyle/>
          <a:p>
            <a:pPr algn="ctr">
              <a:lnSpc>
                <a:spcPts val="4566"/>
              </a:lnSpc>
              <a:spcBef>
                <a:spcPct val="0"/>
              </a:spcBef>
            </a:pPr>
            <a:r>
              <a:rPr lang="en-US" b="true" sz="3261" spc="6">
                <a:solidFill>
                  <a:srgbClr val="FFFFFF"/>
                </a:solidFill>
                <a:latin typeface="Open Sauce Bold"/>
                <a:ea typeface="Open Sauce Bold"/>
                <a:cs typeface="Open Sauce Bold"/>
                <a:sym typeface="Open Sauce Bold"/>
              </a:rPr>
              <a:t>Infrastructure as Code</a:t>
            </a:r>
          </a:p>
        </p:txBody>
      </p:sp>
      <p:sp>
        <p:nvSpPr>
          <p:cNvPr name="TextBox 8" id="8"/>
          <p:cNvSpPr txBox="true"/>
          <p:nvPr/>
        </p:nvSpPr>
        <p:spPr>
          <a:xfrm rot="0">
            <a:off x="1477343" y="5394325"/>
            <a:ext cx="4563792" cy="4277995"/>
          </a:xfrm>
          <a:prstGeom prst="rect">
            <a:avLst/>
          </a:prstGeom>
        </p:spPr>
        <p:txBody>
          <a:bodyPr anchor="t" rtlCol="false" tIns="0" lIns="0" bIns="0" rIns="0">
            <a:spAutoFit/>
          </a:bodyPr>
          <a:lstStyle/>
          <a:p>
            <a:pPr algn="ctr">
              <a:lnSpc>
                <a:spcPts val="3079"/>
              </a:lnSpc>
            </a:pPr>
            <a:r>
              <a:rPr lang="en-US" b="true" sz="2199" spc="4">
                <a:solidFill>
                  <a:srgbClr val="FFFFFF"/>
                </a:solidFill>
                <a:latin typeface="Open Sauce Bold"/>
                <a:ea typeface="Open Sauce Bold"/>
                <a:cs typeface="Open Sauce Bold"/>
                <a:sym typeface="Open Sauce Bold"/>
              </a:rPr>
              <a:t>Configuration management ensures that servers and environments are configured consistently across development, testing, and production systems.</a:t>
            </a:r>
          </a:p>
          <a:p>
            <a:pPr algn="ctr">
              <a:lnSpc>
                <a:spcPts val="3079"/>
              </a:lnSpc>
            </a:pPr>
          </a:p>
          <a:p>
            <a:pPr algn="ctr">
              <a:lnSpc>
                <a:spcPts val="3079"/>
              </a:lnSpc>
            </a:pPr>
            <a:r>
              <a:rPr lang="en-US" b="true" sz="2199" spc="4">
                <a:solidFill>
                  <a:srgbClr val="FFFFFF"/>
                </a:solidFill>
                <a:latin typeface="Open Sauce Bold"/>
                <a:ea typeface="Open Sauce Bold"/>
                <a:cs typeface="Open Sauce Bold"/>
                <a:sym typeface="Open Sauce Bold"/>
              </a:rPr>
              <a:t>Tool:</a:t>
            </a:r>
          </a:p>
          <a:p>
            <a:pPr algn="ctr">
              <a:lnSpc>
                <a:spcPts val="3079"/>
              </a:lnSpc>
              <a:spcBef>
                <a:spcPct val="0"/>
              </a:spcBef>
            </a:pPr>
            <a:r>
              <a:rPr lang="en-US" b="true" sz="2199" spc="4">
                <a:solidFill>
                  <a:srgbClr val="FFFFFF"/>
                </a:solidFill>
                <a:latin typeface="Open Sauce Bold"/>
                <a:ea typeface="Open Sauce Bold"/>
                <a:cs typeface="Open Sauce Bold"/>
                <a:sym typeface="Open Sauce Bold"/>
              </a:rPr>
              <a:t>Prometheus: An open-source system monitoring and alerting toolkit designed for reliability.</a:t>
            </a:r>
          </a:p>
        </p:txBody>
      </p:sp>
      <p:sp>
        <p:nvSpPr>
          <p:cNvPr name="TextBox 9" id="9"/>
          <p:cNvSpPr txBox="true"/>
          <p:nvPr/>
        </p:nvSpPr>
        <p:spPr>
          <a:xfrm rot="0">
            <a:off x="1547653" y="4660304"/>
            <a:ext cx="4423172" cy="555324"/>
          </a:xfrm>
          <a:prstGeom prst="rect">
            <a:avLst/>
          </a:prstGeom>
        </p:spPr>
        <p:txBody>
          <a:bodyPr anchor="t" rtlCol="false" tIns="0" lIns="0" bIns="0" rIns="0">
            <a:spAutoFit/>
          </a:bodyPr>
          <a:lstStyle/>
          <a:p>
            <a:pPr algn="ctr">
              <a:lnSpc>
                <a:spcPts val="4566"/>
              </a:lnSpc>
              <a:spcBef>
                <a:spcPct val="0"/>
              </a:spcBef>
            </a:pPr>
            <a:r>
              <a:rPr lang="en-US" b="true" sz="3261" spc="6">
                <a:solidFill>
                  <a:srgbClr val="FFFFFF"/>
                </a:solidFill>
                <a:latin typeface="Open Sauce Bold"/>
                <a:ea typeface="Open Sauce Bold"/>
                <a:cs typeface="Open Sauce Bold"/>
                <a:sym typeface="Open Sauce Bold"/>
              </a:rPr>
              <a:t>Monitoring &amp; Logging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5400000">
            <a:off x="9996332" y="1995332"/>
            <a:ext cx="8284123" cy="8299213"/>
          </a:xfrm>
          <a:custGeom>
            <a:avLst/>
            <a:gdLst/>
            <a:ahLst/>
            <a:cxnLst/>
            <a:rect r="r" b="b" t="t" l="l"/>
            <a:pathLst>
              <a:path h="8299213" w="8284123">
                <a:moveTo>
                  <a:pt x="8284123" y="0"/>
                </a:moveTo>
                <a:lnTo>
                  <a:pt x="0" y="0"/>
                </a:lnTo>
                <a:lnTo>
                  <a:pt x="0" y="8299213"/>
                </a:lnTo>
                <a:lnTo>
                  <a:pt x="8284123" y="8299213"/>
                </a:lnTo>
                <a:lnTo>
                  <a:pt x="828412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1764454"/>
            <a:ext cx="4317366" cy="4317366"/>
          </a:xfrm>
          <a:custGeom>
            <a:avLst/>
            <a:gdLst/>
            <a:ahLst/>
            <a:cxnLst/>
            <a:rect r="r" b="b" t="t" l="l"/>
            <a:pathLst>
              <a:path h="4317366" w="4317366">
                <a:moveTo>
                  <a:pt x="4317366" y="4317366"/>
                </a:moveTo>
                <a:lnTo>
                  <a:pt x="0" y="4317366"/>
                </a:lnTo>
                <a:lnTo>
                  <a:pt x="0" y="0"/>
                </a:lnTo>
                <a:lnTo>
                  <a:pt x="4317366" y="0"/>
                </a:lnTo>
                <a:lnTo>
                  <a:pt x="4317366" y="43173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491436" y="1945727"/>
            <a:ext cx="5930163" cy="4302385"/>
          </a:xfrm>
          <a:prstGeom prst="rect">
            <a:avLst/>
          </a:prstGeom>
        </p:spPr>
        <p:txBody>
          <a:bodyPr anchor="t" rtlCol="false" tIns="0" lIns="0" bIns="0" rIns="0">
            <a:spAutoFit/>
          </a:bodyPr>
          <a:lstStyle/>
          <a:p>
            <a:pPr algn="ctr">
              <a:lnSpc>
                <a:spcPts val="3859"/>
              </a:lnSpc>
            </a:pPr>
            <a:r>
              <a:rPr lang="en-US" b="true" sz="2756" spc="5">
                <a:solidFill>
                  <a:srgbClr val="FFFFFF"/>
                </a:solidFill>
                <a:latin typeface="Open Sauce Bold"/>
                <a:ea typeface="Open Sauce Bold"/>
                <a:cs typeface="Open Sauce Bold"/>
                <a:sym typeface="Open Sauce Bold"/>
              </a:rPr>
              <a:t>Security is integrated throughout the DevOps lifecycle to detect vulnerabilities and protect applications and infrastructure.</a:t>
            </a:r>
          </a:p>
          <a:p>
            <a:pPr algn="ctr">
              <a:lnSpc>
                <a:spcPts val="3859"/>
              </a:lnSpc>
            </a:pPr>
          </a:p>
          <a:p>
            <a:pPr algn="ctr">
              <a:lnSpc>
                <a:spcPts val="3859"/>
              </a:lnSpc>
            </a:pPr>
            <a:r>
              <a:rPr lang="en-US" b="true" sz="2756" spc="5">
                <a:solidFill>
                  <a:srgbClr val="FFFFFF"/>
                </a:solidFill>
                <a:latin typeface="Open Sauce Bold"/>
                <a:ea typeface="Open Sauce Bold"/>
                <a:cs typeface="Open Sauce Bold"/>
                <a:sym typeface="Open Sauce Bold"/>
              </a:rPr>
              <a:t>Tool:</a:t>
            </a:r>
          </a:p>
          <a:p>
            <a:pPr algn="ctr">
              <a:lnSpc>
                <a:spcPts val="3859"/>
              </a:lnSpc>
              <a:spcBef>
                <a:spcPct val="0"/>
              </a:spcBef>
            </a:pPr>
            <a:r>
              <a:rPr lang="en-US" b="true" sz="2756" spc="5">
                <a:solidFill>
                  <a:srgbClr val="FFFFFF"/>
                </a:solidFill>
                <a:latin typeface="Open Sauce Bold"/>
                <a:ea typeface="Open Sauce Bold"/>
                <a:cs typeface="Open Sauce Bold"/>
                <a:sym typeface="Open Sauce Bold"/>
              </a:rPr>
              <a:t>Twistlock: A security platform designed for containers and cloud-native applications.</a:t>
            </a:r>
          </a:p>
        </p:txBody>
      </p:sp>
      <p:sp>
        <p:nvSpPr>
          <p:cNvPr name="TextBox 5" id="5"/>
          <p:cNvSpPr txBox="true"/>
          <p:nvPr/>
        </p:nvSpPr>
        <p:spPr>
          <a:xfrm rot="0">
            <a:off x="1911259" y="675155"/>
            <a:ext cx="5090517" cy="630890"/>
          </a:xfrm>
          <a:prstGeom prst="rect">
            <a:avLst/>
          </a:prstGeom>
        </p:spPr>
        <p:txBody>
          <a:bodyPr anchor="t" rtlCol="false" tIns="0" lIns="0" bIns="0" rIns="0">
            <a:spAutoFit/>
          </a:bodyPr>
          <a:lstStyle/>
          <a:p>
            <a:pPr algn="ctr">
              <a:lnSpc>
                <a:spcPts val="5126"/>
              </a:lnSpc>
              <a:spcBef>
                <a:spcPct val="0"/>
              </a:spcBef>
            </a:pPr>
            <a:r>
              <a:rPr lang="en-US" b="true" sz="3661" spc="7">
                <a:solidFill>
                  <a:srgbClr val="FFFFFF"/>
                </a:solidFill>
                <a:latin typeface="Open Sauce Bold"/>
                <a:ea typeface="Open Sauce Bold"/>
                <a:cs typeface="Open Sauce Bold"/>
                <a:sym typeface="Open Sauce Bold"/>
              </a:rPr>
              <a:t>Security (DevSecOps)</a:t>
            </a:r>
          </a:p>
        </p:txBody>
      </p:sp>
      <p:sp>
        <p:nvSpPr>
          <p:cNvPr name="TextBox 6" id="6"/>
          <p:cNvSpPr txBox="true"/>
          <p:nvPr/>
        </p:nvSpPr>
        <p:spPr>
          <a:xfrm rot="0">
            <a:off x="8432822" y="5095875"/>
            <a:ext cx="6760005" cy="4413078"/>
          </a:xfrm>
          <a:prstGeom prst="rect">
            <a:avLst/>
          </a:prstGeom>
        </p:spPr>
        <p:txBody>
          <a:bodyPr anchor="t" rtlCol="false" tIns="0" lIns="0" bIns="0" rIns="0">
            <a:spAutoFit/>
          </a:bodyPr>
          <a:lstStyle/>
          <a:p>
            <a:pPr algn="ctr">
              <a:lnSpc>
                <a:spcPts val="3532"/>
              </a:lnSpc>
            </a:pPr>
            <a:r>
              <a:rPr lang="en-US" b="true" sz="2522" spc="5">
                <a:solidFill>
                  <a:srgbClr val="FFFFFF"/>
                </a:solidFill>
                <a:latin typeface="Open Sauce Bold"/>
                <a:ea typeface="Open Sauce Bold"/>
                <a:cs typeface="Open Sauce Bold"/>
                <a:sym typeface="Open Sauce Bold"/>
              </a:rPr>
              <a:t>Cloud providers offer scalable infrastructure and services to host applications and support DevOps pipelines.</a:t>
            </a:r>
          </a:p>
          <a:p>
            <a:pPr algn="ctr">
              <a:lnSpc>
                <a:spcPts val="3532"/>
              </a:lnSpc>
            </a:pPr>
          </a:p>
          <a:p>
            <a:pPr algn="ctr">
              <a:lnSpc>
                <a:spcPts val="3532"/>
              </a:lnSpc>
            </a:pPr>
            <a:r>
              <a:rPr lang="en-US" b="true" sz="2522" spc="5">
                <a:solidFill>
                  <a:srgbClr val="FFFFFF"/>
                </a:solidFill>
                <a:latin typeface="Open Sauce Bold"/>
                <a:ea typeface="Open Sauce Bold"/>
                <a:cs typeface="Open Sauce Bold"/>
                <a:sym typeface="Open Sauce Bold"/>
              </a:rPr>
              <a:t>Tool:</a:t>
            </a:r>
          </a:p>
          <a:p>
            <a:pPr algn="ctr">
              <a:lnSpc>
                <a:spcPts val="3532"/>
              </a:lnSpc>
              <a:spcBef>
                <a:spcPct val="0"/>
              </a:spcBef>
            </a:pPr>
            <a:r>
              <a:rPr lang="en-US" b="true" sz="2522" spc="5">
                <a:solidFill>
                  <a:srgbClr val="FFFFFF"/>
                </a:solidFill>
                <a:latin typeface="Open Sauce Bold"/>
                <a:ea typeface="Open Sauce Bold"/>
                <a:cs typeface="Open Sauce Bold"/>
                <a:sym typeface="Open Sauce Bold"/>
              </a:rPr>
              <a:t>Amazon Web Services (AWS): Cloud computing services with various offerings for DevOps, including Elastic Beanstalk, CloudFormation, and CodePipeline.</a:t>
            </a:r>
          </a:p>
        </p:txBody>
      </p:sp>
      <p:sp>
        <p:nvSpPr>
          <p:cNvPr name="TextBox 7" id="7"/>
          <p:cNvSpPr txBox="true"/>
          <p:nvPr/>
        </p:nvSpPr>
        <p:spPr>
          <a:xfrm rot="0">
            <a:off x="9937471" y="3846937"/>
            <a:ext cx="3750707" cy="630890"/>
          </a:xfrm>
          <a:prstGeom prst="rect">
            <a:avLst/>
          </a:prstGeom>
        </p:spPr>
        <p:txBody>
          <a:bodyPr anchor="t" rtlCol="false" tIns="0" lIns="0" bIns="0" rIns="0">
            <a:spAutoFit/>
          </a:bodyPr>
          <a:lstStyle/>
          <a:p>
            <a:pPr algn="ctr">
              <a:lnSpc>
                <a:spcPts val="5126"/>
              </a:lnSpc>
              <a:spcBef>
                <a:spcPct val="0"/>
              </a:spcBef>
            </a:pPr>
            <a:r>
              <a:rPr lang="en-US" b="true" sz="3661" spc="7">
                <a:solidFill>
                  <a:srgbClr val="FFFFFF"/>
                </a:solidFill>
                <a:latin typeface="Open Sauce Bold"/>
                <a:ea typeface="Open Sauce Bold"/>
                <a:cs typeface="Open Sauce Bold"/>
                <a:sym typeface="Open Sauce Bold"/>
              </a:rPr>
              <a:t>Cloud Platforms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5400000">
            <a:off x="12056919" y="4461553"/>
            <a:ext cx="6711409" cy="6711409"/>
          </a:xfrm>
          <a:custGeom>
            <a:avLst/>
            <a:gdLst/>
            <a:ahLst/>
            <a:cxnLst/>
            <a:rect r="r" b="b" t="t" l="l"/>
            <a:pathLst>
              <a:path h="6711409" w="6711409">
                <a:moveTo>
                  <a:pt x="6711409" y="6711409"/>
                </a:moveTo>
                <a:lnTo>
                  <a:pt x="0" y="6711409"/>
                </a:lnTo>
                <a:lnTo>
                  <a:pt x="0" y="0"/>
                </a:lnTo>
                <a:lnTo>
                  <a:pt x="6711409" y="0"/>
                </a:lnTo>
                <a:lnTo>
                  <a:pt x="6711409" y="671140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80123" y="240164"/>
            <a:ext cx="6811570" cy="6811570"/>
          </a:xfrm>
          <a:custGeom>
            <a:avLst/>
            <a:gdLst/>
            <a:ahLst/>
            <a:cxnLst/>
            <a:rect r="r" b="b" t="t" l="l"/>
            <a:pathLst>
              <a:path h="6811570" w="6811570">
                <a:moveTo>
                  <a:pt x="6811570" y="6811570"/>
                </a:moveTo>
                <a:lnTo>
                  <a:pt x="0" y="6811570"/>
                </a:lnTo>
                <a:lnTo>
                  <a:pt x="0" y="0"/>
                </a:lnTo>
                <a:lnTo>
                  <a:pt x="6811570" y="0"/>
                </a:lnTo>
                <a:lnTo>
                  <a:pt x="6811570" y="681157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397688" y="1675042"/>
            <a:ext cx="7492624" cy="8088806"/>
            <a:chOff x="0" y="0"/>
            <a:chExt cx="9990165" cy="10785075"/>
          </a:xfrm>
        </p:grpSpPr>
        <p:grpSp>
          <p:nvGrpSpPr>
            <p:cNvPr name="Group 5" id="5"/>
            <p:cNvGrpSpPr/>
            <p:nvPr/>
          </p:nvGrpSpPr>
          <p:grpSpPr>
            <a:xfrm rot="0">
              <a:off x="2226503" y="0"/>
              <a:ext cx="5537159" cy="1555647"/>
              <a:chOff x="0" y="0"/>
              <a:chExt cx="5154511" cy="1448143"/>
            </a:xfrm>
          </p:grpSpPr>
          <p:sp>
            <p:nvSpPr>
              <p:cNvPr name="Freeform 6" id="6"/>
              <p:cNvSpPr/>
              <p:nvPr/>
            </p:nvSpPr>
            <p:spPr>
              <a:xfrm flipH="false" flipV="false" rot="0">
                <a:off x="16891" y="16891"/>
                <a:ext cx="5120640" cy="1414272"/>
              </a:xfrm>
              <a:custGeom>
                <a:avLst/>
                <a:gdLst/>
                <a:ahLst/>
                <a:cxnLst/>
                <a:rect r="r" b="b" t="t" l="l"/>
                <a:pathLst>
                  <a:path h="1414272" w="5120640">
                    <a:moveTo>
                      <a:pt x="0" y="0"/>
                    </a:moveTo>
                    <a:lnTo>
                      <a:pt x="5120640" y="0"/>
                    </a:lnTo>
                    <a:lnTo>
                      <a:pt x="5120640" y="1414272"/>
                    </a:lnTo>
                    <a:lnTo>
                      <a:pt x="0" y="1414272"/>
                    </a:lnTo>
                    <a:close/>
                  </a:path>
                </a:pathLst>
              </a:custGeom>
              <a:solidFill>
                <a:srgbClr val="161B22"/>
              </a:solidFill>
            </p:spPr>
          </p:sp>
          <p:sp>
            <p:nvSpPr>
              <p:cNvPr name="Freeform 7" id="7"/>
              <p:cNvSpPr/>
              <p:nvPr/>
            </p:nvSpPr>
            <p:spPr>
              <a:xfrm flipH="false" flipV="false" rot="0">
                <a:off x="0" y="0"/>
                <a:ext cx="5154422" cy="1448054"/>
              </a:xfrm>
              <a:custGeom>
                <a:avLst/>
                <a:gdLst/>
                <a:ahLst/>
                <a:cxnLst/>
                <a:rect r="r" b="b" t="t" l="l"/>
                <a:pathLst>
                  <a:path h="1448054" w="5154422">
                    <a:moveTo>
                      <a:pt x="16891" y="0"/>
                    </a:moveTo>
                    <a:lnTo>
                      <a:pt x="5137531" y="0"/>
                    </a:lnTo>
                    <a:cubicBezTo>
                      <a:pt x="5146929" y="0"/>
                      <a:pt x="5154422" y="7620"/>
                      <a:pt x="5154422" y="16891"/>
                    </a:cubicBezTo>
                    <a:lnTo>
                      <a:pt x="5154422" y="1431163"/>
                    </a:lnTo>
                    <a:cubicBezTo>
                      <a:pt x="5154422" y="1440561"/>
                      <a:pt x="5146802" y="1448054"/>
                      <a:pt x="5137531"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5137531" y="1414272"/>
                    </a:lnTo>
                    <a:lnTo>
                      <a:pt x="5137531" y="1431163"/>
                    </a:lnTo>
                    <a:lnTo>
                      <a:pt x="5120640" y="1431163"/>
                    </a:lnTo>
                    <a:lnTo>
                      <a:pt x="5120640" y="16891"/>
                    </a:lnTo>
                    <a:lnTo>
                      <a:pt x="5137531" y="16891"/>
                    </a:lnTo>
                    <a:lnTo>
                      <a:pt x="5137531" y="33909"/>
                    </a:lnTo>
                    <a:lnTo>
                      <a:pt x="16891" y="33909"/>
                    </a:lnTo>
                    <a:close/>
                  </a:path>
                </a:pathLst>
              </a:custGeom>
              <a:solidFill>
                <a:srgbClr val="6E7681"/>
              </a:solidFill>
            </p:spPr>
          </p:sp>
        </p:grpSp>
        <p:grpSp>
          <p:nvGrpSpPr>
            <p:cNvPr name="Group 8" id="8"/>
            <p:cNvGrpSpPr/>
            <p:nvPr/>
          </p:nvGrpSpPr>
          <p:grpSpPr>
            <a:xfrm rot="0">
              <a:off x="2375660" y="227739"/>
              <a:ext cx="5238832" cy="1100155"/>
              <a:chOff x="0" y="0"/>
              <a:chExt cx="4876800" cy="1024128"/>
            </a:xfrm>
          </p:grpSpPr>
          <p:sp>
            <p:nvSpPr>
              <p:cNvPr name="Freeform 9" id="9"/>
              <p:cNvSpPr/>
              <p:nvPr/>
            </p:nvSpPr>
            <p:spPr>
              <a:xfrm flipH="false" flipV="false" rot="0">
                <a:off x="0" y="0"/>
                <a:ext cx="4876800" cy="1024128"/>
              </a:xfrm>
              <a:custGeom>
                <a:avLst/>
                <a:gdLst/>
                <a:ahLst/>
                <a:cxnLst/>
                <a:rect r="r" b="b" t="t" l="l"/>
                <a:pathLst>
                  <a:path h="1024128" w="4876800">
                    <a:moveTo>
                      <a:pt x="0" y="0"/>
                    </a:moveTo>
                    <a:lnTo>
                      <a:pt x="4876800" y="0"/>
                    </a:lnTo>
                    <a:lnTo>
                      <a:pt x="4876800" y="1024128"/>
                    </a:lnTo>
                    <a:lnTo>
                      <a:pt x="0" y="1024128"/>
                    </a:lnTo>
                    <a:close/>
                  </a:path>
                </a:pathLst>
              </a:custGeom>
              <a:blipFill>
                <a:blip r:embed="rId6">
                  <a:alphaModFix amt="0"/>
                </a:blip>
                <a:stretch>
                  <a:fillRect l="0" t="-42785" r="0" b="-42785"/>
                </a:stretch>
              </a:blipFill>
            </p:spPr>
          </p:sp>
          <p:sp>
            <p:nvSpPr>
              <p:cNvPr name="TextBox 10" id="10"/>
              <p:cNvSpPr txBox="true"/>
              <p:nvPr/>
            </p:nvSpPr>
            <p:spPr>
              <a:xfrm>
                <a:off x="0" y="0"/>
                <a:ext cx="4876800" cy="1024128"/>
              </a:xfrm>
              <a:prstGeom prst="rect">
                <a:avLst/>
              </a:prstGeom>
            </p:spPr>
            <p:txBody>
              <a:bodyPr anchor="ctr" rtlCol="false" tIns="0" lIns="0" bIns="0" rIns="0"/>
              <a:lstStyle/>
              <a:p>
                <a:pPr algn="ctr">
                  <a:lnSpc>
                    <a:spcPts val="2639"/>
                  </a:lnSpc>
                </a:pPr>
                <a:r>
                  <a:rPr lang="en-US" sz="2199">
                    <a:solidFill>
                      <a:srgbClr val="F0F0F0"/>
                    </a:solidFill>
                    <a:latin typeface="Montserrat"/>
                    <a:ea typeface="Montserrat"/>
                    <a:cs typeface="Montserrat"/>
                    <a:sym typeface="Montserrat"/>
                  </a:rPr>
                  <a:t>Developer pushes code</a:t>
                </a:r>
              </a:p>
            </p:txBody>
          </p:sp>
        </p:grpSp>
        <p:grpSp>
          <p:nvGrpSpPr>
            <p:cNvPr name="Group 11" id="11"/>
            <p:cNvGrpSpPr/>
            <p:nvPr/>
          </p:nvGrpSpPr>
          <p:grpSpPr>
            <a:xfrm rot="0">
              <a:off x="4976890" y="1519261"/>
              <a:ext cx="36385" cy="691239"/>
              <a:chOff x="0" y="0"/>
              <a:chExt cx="33871" cy="643471"/>
            </a:xfrm>
          </p:grpSpPr>
          <p:sp>
            <p:nvSpPr>
              <p:cNvPr name="Freeform 12" id="12"/>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1D9E75"/>
              </a:solidFill>
            </p:spPr>
          </p:sp>
        </p:grpSp>
        <p:grpSp>
          <p:nvGrpSpPr>
            <p:cNvPr name="Group 13" id="13"/>
            <p:cNvGrpSpPr/>
            <p:nvPr/>
          </p:nvGrpSpPr>
          <p:grpSpPr>
            <a:xfrm rot="0">
              <a:off x="4733134" y="1877971"/>
              <a:ext cx="523883" cy="685777"/>
              <a:chOff x="0" y="0"/>
              <a:chExt cx="487680" cy="638386"/>
            </a:xfrm>
          </p:grpSpPr>
          <p:sp>
            <p:nvSpPr>
              <p:cNvPr name="Freeform 14" id="14"/>
              <p:cNvSpPr/>
              <p:nvPr/>
            </p:nvSpPr>
            <p:spPr>
              <a:xfrm flipH="false" flipV="false" rot="0">
                <a:off x="0" y="0"/>
                <a:ext cx="487680" cy="638386"/>
              </a:xfrm>
              <a:custGeom>
                <a:avLst/>
                <a:gdLst/>
                <a:ahLst/>
                <a:cxnLst/>
                <a:rect r="r" b="b" t="t" l="l"/>
                <a:pathLst>
                  <a:path h="638386" w="487680">
                    <a:moveTo>
                      <a:pt x="0" y="0"/>
                    </a:moveTo>
                    <a:lnTo>
                      <a:pt x="487680" y="0"/>
                    </a:lnTo>
                    <a:lnTo>
                      <a:pt x="487680" y="638386"/>
                    </a:lnTo>
                    <a:lnTo>
                      <a:pt x="0" y="638386"/>
                    </a:lnTo>
                    <a:close/>
                  </a:path>
                </a:pathLst>
              </a:custGeom>
              <a:blipFill>
                <a:blip r:embed="rId6">
                  <a:alphaModFix amt="0"/>
                </a:blip>
                <a:stretch>
                  <a:fillRect l="-91133" t="0" r="-91133" b="15968"/>
                </a:stretch>
              </a:blipFill>
            </p:spPr>
          </p:sp>
          <p:sp>
            <p:nvSpPr>
              <p:cNvPr name="TextBox 15" id="15"/>
              <p:cNvSpPr txBox="true"/>
              <p:nvPr/>
            </p:nvSpPr>
            <p:spPr>
              <a:xfrm>
                <a:off x="0" y="0"/>
                <a:ext cx="487680" cy="638386"/>
              </a:xfrm>
              <a:prstGeom prst="rect">
                <a:avLst/>
              </a:prstGeom>
            </p:spPr>
            <p:txBody>
              <a:bodyPr anchor="ctr" rtlCol="false" tIns="0" lIns="0" bIns="0" rIns="0"/>
              <a:lstStyle/>
              <a:p>
                <a:pPr algn="ctr">
                  <a:lnSpc>
                    <a:spcPts val="2159"/>
                  </a:lnSpc>
                </a:pPr>
                <a:r>
                  <a:rPr lang="en-US" sz="1799">
                    <a:solidFill>
                      <a:srgbClr val="1D9E75"/>
                    </a:solidFill>
                    <a:latin typeface="Montserrat"/>
                    <a:ea typeface="Montserrat"/>
                    <a:cs typeface="Montserrat"/>
                    <a:sym typeface="Montserrat"/>
                  </a:rPr>
                  <a:t>▼</a:t>
                </a:r>
              </a:p>
            </p:txBody>
          </p:sp>
        </p:grpSp>
        <p:grpSp>
          <p:nvGrpSpPr>
            <p:cNvPr name="Group 16" id="16"/>
            <p:cNvGrpSpPr/>
            <p:nvPr/>
          </p:nvGrpSpPr>
          <p:grpSpPr>
            <a:xfrm rot="0">
              <a:off x="2226503" y="2357474"/>
              <a:ext cx="5537159" cy="1555647"/>
              <a:chOff x="0" y="0"/>
              <a:chExt cx="5154511" cy="1448143"/>
            </a:xfrm>
          </p:grpSpPr>
          <p:sp>
            <p:nvSpPr>
              <p:cNvPr name="Freeform 17" id="17"/>
              <p:cNvSpPr/>
              <p:nvPr/>
            </p:nvSpPr>
            <p:spPr>
              <a:xfrm flipH="false" flipV="false" rot="0">
                <a:off x="16891" y="16891"/>
                <a:ext cx="5120640" cy="1414272"/>
              </a:xfrm>
              <a:custGeom>
                <a:avLst/>
                <a:gdLst/>
                <a:ahLst/>
                <a:cxnLst/>
                <a:rect r="r" b="b" t="t" l="l"/>
                <a:pathLst>
                  <a:path h="1414272" w="5120640">
                    <a:moveTo>
                      <a:pt x="0" y="0"/>
                    </a:moveTo>
                    <a:lnTo>
                      <a:pt x="5120640" y="0"/>
                    </a:lnTo>
                    <a:lnTo>
                      <a:pt x="5120640" y="1414272"/>
                    </a:lnTo>
                    <a:lnTo>
                      <a:pt x="0" y="1414272"/>
                    </a:lnTo>
                    <a:close/>
                  </a:path>
                </a:pathLst>
              </a:custGeom>
              <a:solidFill>
                <a:srgbClr val="0A3D28"/>
              </a:solidFill>
            </p:spPr>
          </p:sp>
          <p:sp>
            <p:nvSpPr>
              <p:cNvPr name="Freeform 18" id="18"/>
              <p:cNvSpPr/>
              <p:nvPr/>
            </p:nvSpPr>
            <p:spPr>
              <a:xfrm flipH="false" flipV="false" rot="0">
                <a:off x="0" y="0"/>
                <a:ext cx="5154422" cy="1448054"/>
              </a:xfrm>
              <a:custGeom>
                <a:avLst/>
                <a:gdLst/>
                <a:ahLst/>
                <a:cxnLst/>
                <a:rect r="r" b="b" t="t" l="l"/>
                <a:pathLst>
                  <a:path h="1448054" w="5154422">
                    <a:moveTo>
                      <a:pt x="16891" y="0"/>
                    </a:moveTo>
                    <a:lnTo>
                      <a:pt x="5137531" y="0"/>
                    </a:lnTo>
                    <a:cubicBezTo>
                      <a:pt x="5146929" y="0"/>
                      <a:pt x="5154422" y="7620"/>
                      <a:pt x="5154422" y="16891"/>
                    </a:cubicBezTo>
                    <a:lnTo>
                      <a:pt x="5154422" y="1431163"/>
                    </a:lnTo>
                    <a:cubicBezTo>
                      <a:pt x="5154422" y="1440561"/>
                      <a:pt x="5146802" y="1448054"/>
                      <a:pt x="5137531"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5137531" y="1414272"/>
                    </a:lnTo>
                    <a:lnTo>
                      <a:pt x="5137531" y="1431163"/>
                    </a:lnTo>
                    <a:lnTo>
                      <a:pt x="5120640" y="1431163"/>
                    </a:lnTo>
                    <a:lnTo>
                      <a:pt x="5120640" y="16891"/>
                    </a:lnTo>
                    <a:lnTo>
                      <a:pt x="5137531" y="16891"/>
                    </a:lnTo>
                    <a:lnTo>
                      <a:pt x="5137531" y="33909"/>
                    </a:lnTo>
                    <a:lnTo>
                      <a:pt x="16891" y="33909"/>
                    </a:lnTo>
                    <a:close/>
                  </a:path>
                </a:pathLst>
              </a:custGeom>
              <a:solidFill>
                <a:srgbClr val="1D9E75"/>
              </a:solidFill>
            </p:spPr>
          </p:sp>
        </p:grpSp>
        <p:grpSp>
          <p:nvGrpSpPr>
            <p:cNvPr name="Group 19" id="19"/>
            <p:cNvGrpSpPr/>
            <p:nvPr/>
          </p:nvGrpSpPr>
          <p:grpSpPr>
            <a:xfrm rot="0">
              <a:off x="2357474" y="2649246"/>
              <a:ext cx="5238832" cy="1100155"/>
              <a:chOff x="0" y="0"/>
              <a:chExt cx="4876800" cy="1024128"/>
            </a:xfrm>
          </p:grpSpPr>
          <p:sp>
            <p:nvSpPr>
              <p:cNvPr name="Freeform 20" id="20"/>
              <p:cNvSpPr/>
              <p:nvPr/>
            </p:nvSpPr>
            <p:spPr>
              <a:xfrm flipH="false" flipV="false" rot="0">
                <a:off x="0" y="0"/>
                <a:ext cx="4876800" cy="1024128"/>
              </a:xfrm>
              <a:custGeom>
                <a:avLst/>
                <a:gdLst/>
                <a:ahLst/>
                <a:cxnLst/>
                <a:rect r="r" b="b" t="t" l="l"/>
                <a:pathLst>
                  <a:path h="1024128" w="4876800">
                    <a:moveTo>
                      <a:pt x="0" y="0"/>
                    </a:moveTo>
                    <a:lnTo>
                      <a:pt x="4876800" y="0"/>
                    </a:lnTo>
                    <a:lnTo>
                      <a:pt x="4876800" y="1024128"/>
                    </a:lnTo>
                    <a:lnTo>
                      <a:pt x="0" y="1024128"/>
                    </a:lnTo>
                    <a:close/>
                  </a:path>
                </a:pathLst>
              </a:custGeom>
              <a:blipFill>
                <a:blip r:embed="rId6">
                  <a:alphaModFix amt="0"/>
                </a:blip>
                <a:stretch>
                  <a:fillRect l="0" t="-42785" r="0" b="-42785"/>
                </a:stretch>
              </a:blipFill>
            </p:spPr>
          </p:sp>
          <p:sp>
            <p:nvSpPr>
              <p:cNvPr name="TextBox 21" id="21"/>
              <p:cNvSpPr txBox="true"/>
              <p:nvPr/>
            </p:nvSpPr>
            <p:spPr>
              <a:xfrm>
                <a:off x="0" y="0"/>
                <a:ext cx="4876800" cy="1024128"/>
              </a:xfrm>
              <a:prstGeom prst="rect">
                <a:avLst/>
              </a:prstGeom>
            </p:spPr>
            <p:txBody>
              <a:bodyPr anchor="ctr" rtlCol="false" tIns="0" lIns="0" bIns="0" rIns="0"/>
              <a:lstStyle/>
              <a:p>
                <a:pPr algn="ctr">
                  <a:lnSpc>
                    <a:spcPts val="2639"/>
                  </a:lnSpc>
                </a:pPr>
                <a:r>
                  <a:rPr lang="en-US" sz="2199">
                    <a:solidFill>
                      <a:srgbClr val="F0F0F0"/>
                    </a:solidFill>
                    <a:latin typeface="Montserrat"/>
                    <a:ea typeface="Montserrat"/>
                    <a:cs typeface="Montserrat"/>
                    <a:sym typeface="Montserrat"/>
                  </a:rPr>
                  <a:t>CI server detects change</a:t>
                </a:r>
              </a:p>
            </p:txBody>
          </p:sp>
        </p:grpSp>
        <p:grpSp>
          <p:nvGrpSpPr>
            <p:cNvPr name="Group 22" id="22"/>
            <p:cNvGrpSpPr/>
            <p:nvPr/>
          </p:nvGrpSpPr>
          <p:grpSpPr>
            <a:xfrm rot="0">
              <a:off x="4976890" y="3876735"/>
              <a:ext cx="36385" cy="691239"/>
              <a:chOff x="0" y="0"/>
              <a:chExt cx="33871" cy="643471"/>
            </a:xfrm>
          </p:grpSpPr>
          <p:sp>
            <p:nvSpPr>
              <p:cNvPr name="Freeform 23" id="23"/>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1D9E75"/>
              </a:solidFill>
            </p:spPr>
          </p:sp>
        </p:grpSp>
        <p:grpSp>
          <p:nvGrpSpPr>
            <p:cNvPr name="Group 24" id="24"/>
            <p:cNvGrpSpPr/>
            <p:nvPr/>
          </p:nvGrpSpPr>
          <p:grpSpPr>
            <a:xfrm rot="0">
              <a:off x="4656421" y="4287834"/>
              <a:ext cx="677310" cy="685777"/>
              <a:chOff x="0" y="0"/>
              <a:chExt cx="630504" cy="638386"/>
            </a:xfrm>
          </p:grpSpPr>
          <p:sp>
            <p:nvSpPr>
              <p:cNvPr name="Freeform 25" id="25"/>
              <p:cNvSpPr/>
              <p:nvPr/>
            </p:nvSpPr>
            <p:spPr>
              <a:xfrm flipH="false" flipV="false" rot="0">
                <a:off x="0" y="0"/>
                <a:ext cx="630501" cy="638389"/>
              </a:xfrm>
              <a:custGeom>
                <a:avLst/>
                <a:gdLst/>
                <a:ahLst/>
                <a:cxnLst/>
                <a:rect r="r" b="b" t="t" l="l"/>
                <a:pathLst>
                  <a:path h="638389" w="630501">
                    <a:moveTo>
                      <a:pt x="0" y="0"/>
                    </a:moveTo>
                    <a:lnTo>
                      <a:pt x="630501" y="0"/>
                    </a:lnTo>
                    <a:lnTo>
                      <a:pt x="630501" y="638389"/>
                    </a:lnTo>
                    <a:lnTo>
                      <a:pt x="0" y="638389"/>
                    </a:lnTo>
                    <a:close/>
                  </a:path>
                </a:pathLst>
              </a:custGeom>
              <a:blipFill>
                <a:blip r:embed="rId6">
                  <a:alphaModFix amt="0"/>
                </a:blip>
                <a:stretch>
                  <a:fillRect l="-34353" t="0" r="-34354" b="35066"/>
                </a:stretch>
              </a:blipFill>
            </p:spPr>
          </p:sp>
          <p:sp>
            <p:nvSpPr>
              <p:cNvPr name="TextBox 26" id="26"/>
              <p:cNvSpPr txBox="true"/>
              <p:nvPr/>
            </p:nvSpPr>
            <p:spPr>
              <a:xfrm>
                <a:off x="0" y="0"/>
                <a:ext cx="630504" cy="638386"/>
              </a:xfrm>
              <a:prstGeom prst="rect">
                <a:avLst/>
              </a:prstGeom>
            </p:spPr>
            <p:txBody>
              <a:bodyPr anchor="ctr" rtlCol="false" tIns="0" lIns="0" bIns="0" rIns="0"/>
              <a:lstStyle/>
              <a:p>
                <a:pPr algn="ctr">
                  <a:lnSpc>
                    <a:spcPts val="2159"/>
                  </a:lnSpc>
                </a:pPr>
                <a:r>
                  <a:rPr lang="en-US" sz="1799">
                    <a:solidFill>
                      <a:srgbClr val="1D9E75"/>
                    </a:solidFill>
                    <a:latin typeface="Montserrat"/>
                    <a:ea typeface="Montserrat"/>
                    <a:cs typeface="Montserrat"/>
                    <a:sym typeface="Montserrat"/>
                  </a:rPr>
                  <a:t>▼</a:t>
                </a:r>
              </a:p>
            </p:txBody>
          </p:sp>
        </p:grpSp>
        <p:grpSp>
          <p:nvGrpSpPr>
            <p:cNvPr name="Group 27" id="27"/>
            <p:cNvGrpSpPr/>
            <p:nvPr/>
          </p:nvGrpSpPr>
          <p:grpSpPr>
            <a:xfrm rot="0">
              <a:off x="2226503" y="4714949"/>
              <a:ext cx="5537159" cy="1555647"/>
              <a:chOff x="0" y="0"/>
              <a:chExt cx="5154511" cy="1448143"/>
            </a:xfrm>
          </p:grpSpPr>
          <p:sp>
            <p:nvSpPr>
              <p:cNvPr name="Freeform 28" id="28"/>
              <p:cNvSpPr/>
              <p:nvPr/>
            </p:nvSpPr>
            <p:spPr>
              <a:xfrm flipH="false" flipV="false" rot="0">
                <a:off x="16891" y="16891"/>
                <a:ext cx="5120640" cy="1414272"/>
              </a:xfrm>
              <a:custGeom>
                <a:avLst/>
                <a:gdLst/>
                <a:ahLst/>
                <a:cxnLst/>
                <a:rect r="r" b="b" t="t" l="l"/>
                <a:pathLst>
                  <a:path h="1414272" w="5120640">
                    <a:moveTo>
                      <a:pt x="0" y="0"/>
                    </a:moveTo>
                    <a:lnTo>
                      <a:pt x="5120640" y="0"/>
                    </a:lnTo>
                    <a:lnTo>
                      <a:pt x="5120640" y="1414272"/>
                    </a:lnTo>
                    <a:lnTo>
                      <a:pt x="0" y="1414272"/>
                    </a:lnTo>
                    <a:close/>
                  </a:path>
                </a:pathLst>
              </a:custGeom>
              <a:solidFill>
                <a:srgbClr val="0A3D28"/>
              </a:solidFill>
            </p:spPr>
          </p:sp>
          <p:sp>
            <p:nvSpPr>
              <p:cNvPr name="Freeform 29" id="29"/>
              <p:cNvSpPr/>
              <p:nvPr/>
            </p:nvSpPr>
            <p:spPr>
              <a:xfrm flipH="false" flipV="false" rot="0">
                <a:off x="0" y="0"/>
                <a:ext cx="5154422" cy="1448054"/>
              </a:xfrm>
              <a:custGeom>
                <a:avLst/>
                <a:gdLst/>
                <a:ahLst/>
                <a:cxnLst/>
                <a:rect r="r" b="b" t="t" l="l"/>
                <a:pathLst>
                  <a:path h="1448054" w="5154422">
                    <a:moveTo>
                      <a:pt x="16891" y="0"/>
                    </a:moveTo>
                    <a:lnTo>
                      <a:pt x="5137531" y="0"/>
                    </a:lnTo>
                    <a:cubicBezTo>
                      <a:pt x="5146929" y="0"/>
                      <a:pt x="5154422" y="7620"/>
                      <a:pt x="5154422" y="16891"/>
                    </a:cubicBezTo>
                    <a:lnTo>
                      <a:pt x="5154422" y="1431163"/>
                    </a:lnTo>
                    <a:cubicBezTo>
                      <a:pt x="5154422" y="1440561"/>
                      <a:pt x="5146802" y="1448054"/>
                      <a:pt x="5137531"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5137531" y="1414272"/>
                    </a:lnTo>
                    <a:lnTo>
                      <a:pt x="5137531" y="1431163"/>
                    </a:lnTo>
                    <a:lnTo>
                      <a:pt x="5120640" y="1431163"/>
                    </a:lnTo>
                    <a:lnTo>
                      <a:pt x="5120640" y="16891"/>
                    </a:lnTo>
                    <a:lnTo>
                      <a:pt x="5137531" y="16891"/>
                    </a:lnTo>
                    <a:lnTo>
                      <a:pt x="5137531" y="33909"/>
                    </a:lnTo>
                    <a:lnTo>
                      <a:pt x="16891" y="33909"/>
                    </a:lnTo>
                    <a:close/>
                  </a:path>
                </a:pathLst>
              </a:custGeom>
              <a:solidFill>
                <a:srgbClr val="1D9E75"/>
              </a:solidFill>
            </p:spPr>
          </p:sp>
        </p:grpSp>
        <p:grpSp>
          <p:nvGrpSpPr>
            <p:cNvPr name="Group 30" id="30"/>
            <p:cNvGrpSpPr/>
            <p:nvPr/>
          </p:nvGrpSpPr>
          <p:grpSpPr>
            <a:xfrm rot="0">
              <a:off x="2375660" y="4942688"/>
              <a:ext cx="5238832" cy="1100155"/>
              <a:chOff x="0" y="0"/>
              <a:chExt cx="4876800" cy="1024128"/>
            </a:xfrm>
          </p:grpSpPr>
          <p:sp>
            <p:nvSpPr>
              <p:cNvPr name="Freeform 31" id="31"/>
              <p:cNvSpPr/>
              <p:nvPr/>
            </p:nvSpPr>
            <p:spPr>
              <a:xfrm flipH="false" flipV="false" rot="0">
                <a:off x="0" y="0"/>
                <a:ext cx="4876800" cy="1024128"/>
              </a:xfrm>
              <a:custGeom>
                <a:avLst/>
                <a:gdLst/>
                <a:ahLst/>
                <a:cxnLst/>
                <a:rect r="r" b="b" t="t" l="l"/>
                <a:pathLst>
                  <a:path h="1024128" w="4876800">
                    <a:moveTo>
                      <a:pt x="0" y="0"/>
                    </a:moveTo>
                    <a:lnTo>
                      <a:pt x="4876800" y="0"/>
                    </a:lnTo>
                    <a:lnTo>
                      <a:pt x="4876800" y="1024128"/>
                    </a:lnTo>
                    <a:lnTo>
                      <a:pt x="0" y="1024128"/>
                    </a:lnTo>
                    <a:close/>
                  </a:path>
                </a:pathLst>
              </a:custGeom>
              <a:blipFill>
                <a:blip r:embed="rId6">
                  <a:alphaModFix amt="0"/>
                </a:blip>
                <a:stretch>
                  <a:fillRect l="0" t="-42785" r="0" b="-42785"/>
                </a:stretch>
              </a:blipFill>
            </p:spPr>
          </p:sp>
          <p:sp>
            <p:nvSpPr>
              <p:cNvPr name="TextBox 32" id="32"/>
              <p:cNvSpPr txBox="true"/>
              <p:nvPr/>
            </p:nvSpPr>
            <p:spPr>
              <a:xfrm>
                <a:off x="0" y="0"/>
                <a:ext cx="4876800" cy="1024128"/>
              </a:xfrm>
              <a:prstGeom prst="rect">
                <a:avLst/>
              </a:prstGeom>
            </p:spPr>
            <p:txBody>
              <a:bodyPr anchor="ctr" rtlCol="false" tIns="0" lIns="0" bIns="0" rIns="0"/>
              <a:lstStyle/>
              <a:p>
                <a:pPr algn="ctr">
                  <a:lnSpc>
                    <a:spcPts val="2639"/>
                  </a:lnSpc>
                </a:pPr>
                <a:r>
                  <a:rPr lang="en-US" sz="2199">
                    <a:solidFill>
                      <a:srgbClr val="F0F0F0"/>
                    </a:solidFill>
                    <a:latin typeface="Montserrat"/>
                    <a:ea typeface="Montserrat"/>
                    <a:cs typeface="Montserrat"/>
                    <a:sym typeface="Montserrat"/>
                  </a:rPr>
                  <a:t>Build and compile code</a:t>
                </a:r>
              </a:p>
            </p:txBody>
          </p:sp>
        </p:grpSp>
        <p:grpSp>
          <p:nvGrpSpPr>
            <p:cNvPr name="Group 33" id="33"/>
            <p:cNvGrpSpPr/>
            <p:nvPr/>
          </p:nvGrpSpPr>
          <p:grpSpPr>
            <a:xfrm rot="0">
              <a:off x="4976890" y="6234210"/>
              <a:ext cx="36385" cy="691239"/>
              <a:chOff x="0" y="0"/>
              <a:chExt cx="33871" cy="643471"/>
            </a:xfrm>
          </p:grpSpPr>
          <p:sp>
            <p:nvSpPr>
              <p:cNvPr name="Freeform 34" id="34"/>
              <p:cNvSpPr/>
              <p:nvPr/>
            </p:nvSpPr>
            <p:spPr>
              <a:xfrm flipH="false" flipV="false" rot="0">
                <a:off x="0" y="16891"/>
                <a:ext cx="33909" cy="609600"/>
              </a:xfrm>
              <a:custGeom>
                <a:avLst/>
                <a:gdLst/>
                <a:ahLst/>
                <a:cxnLst/>
                <a:rect r="r" b="b" t="t" l="l"/>
                <a:pathLst>
                  <a:path h="609600" w="33909">
                    <a:moveTo>
                      <a:pt x="33909" y="0"/>
                    </a:moveTo>
                    <a:lnTo>
                      <a:pt x="33909" y="609600"/>
                    </a:lnTo>
                    <a:lnTo>
                      <a:pt x="0" y="609600"/>
                    </a:lnTo>
                    <a:lnTo>
                      <a:pt x="0" y="0"/>
                    </a:lnTo>
                    <a:close/>
                  </a:path>
                </a:pathLst>
              </a:custGeom>
              <a:solidFill>
                <a:srgbClr val="1D9E75"/>
              </a:solidFill>
            </p:spPr>
          </p:sp>
        </p:grpSp>
        <p:grpSp>
          <p:nvGrpSpPr>
            <p:cNvPr name="Group 35" id="35"/>
            <p:cNvGrpSpPr/>
            <p:nvPr/>
          </p:nvGrpSpPr>
          <p:grpSpPr>
            <a:xfrm rot="0">
              <a:off x="4785523" y="6619114"/>
              <a:ext cx="523883" cy="685777"/>
              <a:chOff x="0" y="0"/>
              <a:chExt cx="487680" cy="638386"/>
            </a:xfrm>
          </p:grpSpPr>
          <p:sp>
            <p:nvSpPr>
              <p:cNvPr name="Freeform 36" id="36"/>
              <p:cNvSpPr/>
              <p:nvPr/>
            </p:nvSpPr>
            <p:spPr>
              <a:xfrm flipH="false" flipV="false" rot="0">
                <a:off x="0" y="0"/>
                <a:ext cx="487680" cy="638386"/>
              </a:xfrm>
              <a:custGeom>
                <a:avLst/>
                <a:gdLst/>
                <a:ahLst/>
                <a:cxnLst/>
                <a:rect r="r" b="b" t="t" l="l"/>
                <a:pathLst>
                  <a:path h="638386" w="487680">
                    <a:moveTo>
                      <a:pt x="0" y="0"/>
                    </a:moveTo>
                    <a:lnTo>
                      <a:pt x="487680" y="0"/>
                    </a:lnTo>
                    <a:lnTo>
                      <a:pt x="487680" y="638386"/>
                    </a:lnTo>
                    <a:lnTo>
                      <a:pt x="0" y="638386"/>
                    </a:lnTo>
                    <a:close/>
                  </a:path>
                </a:pathLst>
              </a:custGeom>
              <a:blipFill>
                <a:blip r:embed="rId6">
                  <a:alphaModFix amt="0"/>
                </a:blip>
                <a:stretch>
                  <a:fillRect l="-52642" t="0" r="-52642" b="38885"/>
                </a:stretch>
              </a:blipFill>
            </p:spPr>
          </p:sp>
          <p:sp>
            <p:nvSpPr>
              <p:cNvPr name="TextBox 37" id="37"/>
              <p:cNvSpPr txBox="true"/>
              <p:nvPr/>
            </p:nvSpPr>
            <p:spPr>
              <a:xfrm>
                <a:off x="0" y="0"/>
                <a:ext cx="487680" cy="638386"/>
              </a:xfrm>
              <a:prstGeom prst="rect">
                <a:avLst/>
              </a:prstGeom>
            </p:spPr>
            <p:txBody>
              <a:bodyPr anchor="ctr" rtlCol="false" tIns="0" lIns="0" bIns="0" rIns="0"/>
              <a:lstStyle/>
              <a:p>
                <a:pPr algn="ctr">
                  <a:lnSpc>
                    <a:spcPts val="2159"/>
                  </a:lnSpc>
                </a:pPr>
                <a:r>
                  <a:rPr lang="en-US" sz="1799">
                    <a:solidFill>
                      <a:srgbClr val="1D9E75"/>
                    </a:solidFill>
                    <a:latin typeface="Montserrat"/>
                    <a:ea typeface="Montserrat"/>
                    <a:cs typeface="Montserrat"/>
                    <a:sym typeface="Montserrat"/>
                  </a:rPr>
                  <a:t>▼</a:t>
                </a:r>
              </a:p>
            </p:txBody>
          </p:sp>
        </p:grpSp>
        <p:grpSp>
          <p:nvGrpSpPr>
            <p:cNvPr name="Group 38" id="38"/>
            <p:cNvGrpSpPr/>
            <p:nvPr/>
          </p:nvGrpSpPr>
          <p:grpSpPr>
            <a:xfrm rot="0">
              <a:off x="2226503" y="7072423"/>
              <a:ext cx="5537159" cy="1555647"/>
              <a:chOff x="0" y="0"/>
              <a:chExt cx="5154511" cy="1448143"/>
            </a:xfrm>
          </p:grpSpPr>
          <p:sp>
            <p:nvSpPr>
              <p:cNvPr name="Freeform 39" id="39"/>
              <p:cNvSpPr/>
              <p:nvPr/>
            </p:nvSpPr>
            <p:spPr>
              <a:xfrm flipH="false" flipV="false" rot="0">
                <a:off x="16891" y="16891"/>
                <a:ext cx="5120640" cy="1414272"/>
              </a:xfrm>
              <a:custGeom>
                <a:avLst/>
                <a:gdLst/>
                <a:ahLst/>
                <a:cxnLst/>
                <a:rect r="r" b="b" t="t" l="l"/>
                <a:pathLst>
                  <a:path h="1414272" w="5120640">
                    <a:moveTo>
                      <a:pt x="0" y="0"/>
                    </a:moveTo>
                    <a:lnTo>
                      <a:pt x="5120640" y="0"/>
                    </a:lnTo>
                    <a:lnTo>
                      <a:pt x="5120640" y="1414272"/>
                    </a:lnTo>
                    <a:lnTo>
                      <a:pt x="0" y="1414272"/>
                    </a:lnTo>
                    <a:close/>
                  </a:path>
                </a:pathLst>
              </a:custGeom>
              <a:solidFill>
                <a:srgbClr val="0A3D28"/>
              </a:solidFill>
            </p:spPr>
          </p:sp>
          <p:sp>
            <p:nvSpPr>
              <p:cNvPr name="Freeform 40" id="40"/>
              <p:cNvSpPr/>
              <p:nvPr/>
            </p:nvSpPr>
            <p:spPr>
              <a:xfrm flipH="false" flipV="false" rot="0">
                <a:off x="0" y="0"/>
                <a:ext cx="5154422" cy="1448054"/>
              </a:xfrm>
              <a:custGeom>
                <a:avLst/>
                <a:gdLst/>
                <a:ahLst/>
                <a:cxnLst/>
                <a:rect r="r" b="b" t="t" l="l"/>
                <a:pathLst>
                  <a:path h="1448054" w="5154422">
                    <a:moveTo>
                      <a:pt x="16891" y="0"/>
                    </a:moveTo>
                    <a:lnTo>
                      <a:pt x="5137531" y="0"/>
                    </a:lnTo>
                    <a:cubicBezTo>
                      <a:pt x="5146929" y="0"/>
                      <a:pt x="5154422" y="7620"/>
                      <a:pt x="5154422" y="16891"/>
                    </a:cubicBezTo>
                    <a:lnTo>
                      <a:pt x="5154422" y="1431163"/>
                    </a:lnTo>
                    <a:cubicBezTo>
                      <a:pt x="5154422" y="1440561"/>
                      <a:pt x="5146802" y="1448054"/>
                      <a:pt x="5137531"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5137531" y="1414272"/>
                    </a:lnTo>
                    <a:lnTo>
                      <a:pt x="5137531" y="1431163"/>
                    </a:lnTo>
                    <a:lnTo>
                      <a:pt x="5120640" y="1431163"/>
                    </a:lnTo>
                    <a:lnTo>
                      <a:pt x="5120640" y="16891"/>
                    </a:lnTo>
                    <a:lnTo>
                      <a:pt x="5137531" y="16891"/>
                    </a:lnTo>
                    <a:lnTo>
                      <a:pt x="5137531" y="33909"/>
                    </a:lnTo>
                    <a:lnTo>
                      <a:pt x="16891" y="33909"/>
                    </a:lnTo>
                    <a:close/>
                  </a:path>
                </a:pathLst>
              </a:custGeom>
              <a:solidFill>
                <a:srgbClr val="1D9E75"/>
              </a:solidFill>
            </p:spPr>
          </p:sp>
        </p:grpSp>
        <p:grpSp>
          <p:nvGrpSpPr>
            <p:cNvPr name="Group 41" id="41"/>
            <p:cNvGrpSpPr/>
            <p:nvPr/>
          </p:nvGrpSpPr>
          <p:grpSpPr>
            <a:xfrm rot="0">
              <a:off x="2375660" y="7300162"/>
              <a:ext cx="5238832" cy="1100155"/>
              <a:chOff x="0" y="0"/>
              <a:chExt cx="4876800" cy="1024128"/>
            </a:xfrm>
          </p:grpSpPr>
          <p:sp>
            <p:nvSpPr>
              <p:cNvPr name="Freeform 42" id="42"/>
              <p:cNvSpPr/>
              <p:nvPr/>
            </p:nvSpPr>
            <p:spPr>
              <a:xfrm flipH="false" flipV="false" rot="0">
                <a:off x="0" y="0"/>
                <a:ext cx="4876800" cy="1024128"/>
              </a:xfrm>
              <a:custGeom>
                <a:avLst/>
                <a:gdLst/>
                <a:ahLst/>
                <a:cxnLst/>
                <a:rect r="r" b="b" t="t" l="l"/>
                <a:pathLst>
                  <a:path h="1024128" w="4876800">
                    <a:moveTo>
                      <a:pt x="0" y="0"/>
                    </a:moveTo>
                    <a:lnTo>
                      <a:pt x="4876800" y="0"/>
                    </a:lnTo>
                    <a:lnTo>
                      <a:pt x="4876800" y="1024128"/>
                    </a:lnTo>
                    <a:lnTo>
                      <a:pt x="0" y="1024128"/>
                    </a:lnTo>
                    <a:close/>
                  </a:path>
                </a:pathLst>
              </a:custGeom>
              <a:blipFill>
                <a:blip r:embed="rId6">
                  <a:alphaModFix amt="0"/>
                </a:blip>
                <a:stretch>
                  <a:fillRect l="0" t="-42785" r="0" b="-42785"/>
                </a:stretch>
              </a:blipFill>
            </p:spPr>
          </p:sp>
          <p:sp>
            <p:nvSpPr>
              <p:cNvPr name="TextBox 43" id="43"/>
              <p:cNvSpPr txBox="true"/>
              <p:nvPr/>
            </p:nvSpPr>
            <p:spPr>
              <a:xfrm>
                <a:off x="0" y="0"/>
                <a:ext cx="4876800" cy="1024128"/>
              </a:xfrm>
              <a:prstGeom prst="rect">
                <a:avLst/>
              </a:prstGeom>
            </p:spPr>
            <p:txBody>
              <a:bodyPr anchor="ctr" rtlCol="false" tIns="0" lIns="0" bIns="0" rIns="0"/>
              <a:lstStyle/>
              <a:p>
                <a:pPr algn="ctr">
                  <a:lnSpc>
                    <a:spcPts val="2639"/>
                  </a:lnSpc>
                </a:pPr>
                <a:r>
                  <a:rPr lang="en-US" sz="2199">
                    <a:solidFill>
                      <a:srgbClr val="F0F0F0"/>
                    </a:solidFill>
                    <a:latin typeface="Montserrat"/>
                    <a:ea typeface="Montserrat"/>
                    <a:cs typeface="Montserrat"/>
                    <a:sym typeface="Montserrat"/>
                  </a:rPr>
                  <a:t>Run automated tests</a:t>
                </a:r>
              </a:p>
            </p:txBody>
          </p:sp>
        </p:grpSp>
        <p:grpSp>
          <p:nvGrpSpPr>
            <p:cNvPr name="Group 44" id="44"/>
            <p:cNvGrpSpPr/>
            <p:nvPr/>
          </p:nvGrpSpPr>
          <p:grpSpPr>
            <a:xfrm rot="0">
              <a:off x="4976890" y="8591684"/>
              <a:ext cx="36385" cy="769822"/>
              <a:chOff x="0" y="0"/>
              <a:chExt cx="33871" cy="716623"/>
            </a:xfrm>
          </p:grpSpPr>
          <p:sp>
            <p:nvSpPr>
              <p:cNvPr name="Freeform 45" id="45"/>
              <p:cNvSpPr/>
              <p:nvPr/>
            </p:nvSpPr>
            <p:spPr>
              <a:xfrm flipH="false" flipV="false" rot="0">
                <a:off x="0" y="16891"/>
                <a:ext cx="33909" cy="682752"/>
              </a:xfrm>
              <a:custGeom>
                <a:avLst/>
                <a:gdLst/>
                <a:ahLst/>
                <a:cxnLst/>
                <a:rect r="r" b="b" t="t" l="l"/>
                <a:pathLst>
                  <a:path h="682752" w="33909">
                    <a:moveTo>
                      <a:pt x="33909" y="0"/>
                    </a:moveTo>
                    <a:lnTo>
                      <a:pt x="33909" y="682752"/>
                    </a:lnTo>
                    <a:lnTo>
                      <a:pt x="0" y="682752"/>
                    </a:lnTo>
                    <a:lnTo>
                      <a:pt x="0" y="0"/>
                    </a:lnTo>
                    <a:close/>
                  </a:path>
                </a:pathLst>
              </a:custGeom>
              <a:solidFill>
                <a:srgbClr val="6E7681"/>
              </a:solidFill>
            </p:spPr>
          </p:sp>
        </p:grpSp>
        <p:grpSp>
          <p:nvGrpSpPr>
            <p:cNvPr name="Group 46" id="46"/>
            <p:cNvGrpSpPr/>
            <p:nvPr/>
          </p:nvGrpSpPr>
          <p:grpSpPr>
            <a:xfrm rot="0">
              <a:off x="1440679" y="9325120"/>
              <a:ext cx="7108808" cy="36385"/>
              <a:chOff x="0" y="0"/>
              <a:chExt cx="6617551" cy="33871"/>
            </a:xfrm>
          </p:grpSpPr>
          <p:sp>
            <p:nvSpPr>
              <p:cNvPr name="Freeform 47" id="47"/>
              <p:cNvSpPr/>
              <p:nvPr/>
            </p:nvSpPr>
            <p:spPr>
              <a:xfrm flipH="false" flipV="false" rot="0">
                <a:off x="16891" y="0"/>
                <a:ext cx="6583681" cy="33909"/>
              </a:xfrm>
              <a:custGeom>
                <a:avLst/>
                <a:gdLst/>
                <a:ahLst/>
                <a:cxnLst/>
                <a:rect r="r" b="b" t="t" l="l"/>
                <a:pathLst>
                  <a:path h="33909" w="6583681">
                    <a:moveTo>
                      <a:pt x="0" y="0"/>
                    </a:moveTo>
                    <a:lnTo>
                      <a:pt x="6583681" y="0"/>
                    </a:lnTo>
                    <a:lnTo>
                      <a:pt x="6583681" y="33909"/>
                    </a:lnTo>
                    <a:lnTo>
                      <a:pt x="0" y="33909"/>
                    </a:lnTo>
                    <a:close/>
                  </a:path>
                </a:pathLst>
              </a:custGeom>
              <a:solidFill>
                <a:srgbClr val="6E7681"/>
              </a:solidFill>
            </p:spPr>
          </p:sp>
        </p:grpSp>
        <p:grpSp>
          <p:nvGrpSpPr>
            <p:cNvPr name="Group 48" id="48"/>
            <p:cNvGrpSpPr/>
            <p:nvPr/>
          </p:nvGrpSpPr>
          <p:grpSpPr>
            <a:xfrm rot="0">
              <a:off x="0" y="9508479"/>
              <a:ext cx="4227451" cy="1215122"/>
              <a:chOff x="0" y="0"/>
              <a:chExt cx="3935311" cy="1131151"/>
            </a:xfrm>
          </p:grpSpPr>
          <p:sp>
            <p:nvSpPr>
              <p:cNvPr name="Freeform 49" id="49"/>
              <p:cNvSpPr/>
              <p:nvPr/>
            </p:nvSpPr>
            <p:spPr>
              <a:xfrm flipH="false" flipV="false" rot="0">
                <a:off x="16891" y="16891"/>
                <a:ext cx="3901440" cy="1097280"/>
              </a:xfrm>
              <a:custGeom>
                <a:avLst/>
                <a:gdLst/>
                <a:ahLst/>
                <a:cxnLst/>
                <a:rect r="r" b="b" t="t" l="l"/>
                <a:pathLst>
                  <a:path h="1097280" w="3901440">
                    <a:moveTo>
                      <a:pt x="0" y="0"/>
                    </a:moveTo>
                    <a:lnTo>
                      <a:pt x="3901440" y="0"/>
                    </a:lnTo>
                    <a:lnTo>
                      <a:pt x="3901440" y="1097280"/>
                    </a:lnTo>
                    <a:lnTo>
                      <a:pt x="0" y="1097280"/>
                    </a:lnTo>
                    <a:close/>
                  </a:path>
                </a:pathLst>
              </a:custGeom>
              <a:solidFill>
                <a:srgbClr val="0A3D28"/>
              </a:solidFill>
            </p:spPr>
          </p:sp>
          <p:sp>
            <p:nvSpPr>
              <p:cNvPr name="Freeform 50" id="50"/>
              <p:cNvSpPr/>
              <p:nvPr/>
            </p:nvSpPr>
            <p:spPr>
              <a:xfrm flipH="false" flipV="false" rot="0">
                <a:off x="0" y="0"/>
                <a:ext cx="3935222" cy="1131064"/>
              </a:xfrm>
              <a:custGeom>
                <a:avLst/>
                <a:gdLst/>
                <a:ahLst/>
                <a:cxnLst/>
                <a:rect r="r" b="b" t="t" l="l"/>
                <a:pathLst>
                  <a:path h="1131064" w="3935222">
                    <a:moveTo>
                      <a:pt x="16891" y="0"/>
                    </a:moveTo>
                    <a:lnTo>
                      <a:pt x="3918331" y="0"/>
                    </a:lnTo>
                    <a:cubicBezTo>
                      <a:pt x="3927729" y="0"/>
                      <a:pt x="3935222" y="7620"/>
                      <a:pt x="3935222" y="16891"/>
                    </a:cubicBezTo>
                    <a:lnTo>
                      <a:pt x="3935222" y="1114171"/>
                    </a:lnTo>
                    <a:cubicBezTo>
                      <a:pt x="3935222" y="1123569"/>
                      <a:pt x="3927602" y="1131062"/>
                      <a:pt x="391833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3918331" y="1097280"/>
                    </a:lnTo>
                    <a:lnTo>
                      <a:pt x="3918331" y="1114171"/>
                    </a:lnTo>
                    <a:lnTo>
                      <a:pt x="3901440" y="1114171"/>
                    </a:lnTo>
                    <a:lnTo>
                      <a:pt x="3901440" y="16891"/>
                    </a:lnTo>
                    <a:lnTo>
                      <a:pt x="3918331" y="16891"/>
                    </a:lnTo>
                    <a:lnTo>
                      <a:pt x="3918331" y="33909"/>
                    </a:lnTo>
                    <a:lnTo>
                      <a:pt x="16891" y="33909"/>
                    </a:lnTo>
                    <a:close/>
                  </a:path>
                </a:pathLst>
              </a:custGeom>
              <a:solidFill>
                <a:srgbClr val="1D9E75"/>
              </a:solidFill>
            </p:spPr>
          </p:sp>
        </p:grpSp>
        <p:grpSp>
          <p:nvGrpSpPr>
            <p:cNvPr name="Group 51" id="51"/>
            <p:cNvGrpSpPr/>
            <p:nvPr/>
          </p:nvGrpSpPr>
          <p:grpSpPr>
            <a:xfrm rot="0">
              <a:off x="18186" y="9579054"/>
              <a:ext cx="4191065" cy="1206022"/>
              <a:chOff x="0" y="0"/>
              <a:chExt cx="3901440" cy="1122679"/>
            </a:xfrm>
          </p:grpSpPr>
          <p:sp>
            <p:nvSpPr>
              <p:cNvPr name="Freeform 52" id="52"/>
              <p:cNvSpPr/>
              <p:nvPr/>
            </p:nvSpPr>
            <p:spPr>
              <a:xfrm flipH="false" flipV="false" rot="0">
                <a:off x="0" y="0"/>
                <a:ext cx="3901440" cy="1122679"/>
              </a:xfrm>
              <a:custGeom>
                <a:avLst/>
                <a:gdLst/>
                <a:ahLst/>
                <a:cxnLst/>
                <a:rect r="r" b="b" t="t" l="l"/>
                <a:pathLst>
                  <a:path h="1122679" w="3901440">
                    <a:moveTo>
                      <a:pt x="0" y="0"/>
                    </a:moveTo>
                    <a:lnTo>
                      <a:pt x="3901440" y="0"/>
                    </a:lnTo>
                    <a:lnTo>
                      <a:pt x="3901440" y="1122679"/>
                    </a:lnTo>
                    <a:lnTo>
                      <a:pt x="0" y="1122679"/>
                    </a:lnTo>
                    <a:close/>
                  </a:path>
                </a:pathLst>
              </a:custGeom>
              <a:blipFill>
                <a:blip r:embed="rId6">
                  <a:alphaModFix amt="0"/>
                </a:blip>
                <a:stretch>
                  <a:fillRect l="0" t="-26445" r="0" b="-8979"/>
                </a:stretch>
              </a:blipFill>
            </p:spPr>
          </p:sp>
          <p:sp>
            <p:nvSpPr>
              <p:cNvPr name="TextBox 53" id="53"/>
              <p:cNvSpPr txBox="true"/>
              <p:nvPr/>
            </p:nvSpPr>
            <p:spPr>
              <a:xfrm>
                <a:off x="0" y="0"/>
                <a:ext cx="3901440" cy="1122679"/>
              </a:xfrm>
              <a:prstGeom prst="rect">
                <a:avLst/>
              </a:prstGeom>
            </p:spPr>
            <p:txBody>
              <a:bodyPr anchor="ctr" rtlCol="false" tIns="0" lIns="0" bIns="0" rIns="0"/>
              <a:lstStyle/>
              <a:p>
                <a:pPr algn="ctr">
                  <a:lnSpc>
                    <a:spcPts val="2400"/>
                  </a:lnSpc>
                </a:pPr>
                <a:r>
                  <a:rPr lang="en-US" sz="2000">
                    <a:solidFill>
                      <a:srgbClr val="1D9E75"/>
                    </a:solidFill>
                    <a:latin typeface="Montserrat"/>
                    <a:ea typeface="Montserrat"/>
                    <a:cs typeface="Montserrat"/>
                    <a:sym typeface="Montserrat"/>
                  </a:rPr>
                  <a:t>PASS</a:t>
                </a:r>
              </a:p>
              <a:p>
                <a:pPr algn="ctr">
                  <a:lnSpc>
                    <a:spcPts val="2400"/>
                  </a:lnSpc>
                </a:pPr>
                <a:r>
                  <a:rPr lang="en-US" sz="2000">
                    <a:solidFill>
                      <a:srgbClr val="1D9E75"/>
                    </a:solidFill>
                    <a:latin typeface="Montserrat"/>
                    <a:ea typeface="Montserrat"/>
                    <a:cs typeface="Montserrat"/>
                    <a:sym typeface="Montserrat"/>
                  </a:rPr>
                  <a:t>Code merged</a:t>
                </a:r>
              </a:p>
            </p:txBody>
          </p:sp>
        </p:grpSp>
        <p:grpSp>
          <p:nvGrpSpPr>
            <p:cNvPr name="Group 54" id="54"/>
            <p:cNvGrpSpPr/>
            <p:nvPr/>
          </p:nvGrpSpPr>
          <p:grpSpPr>
            <a:xfrm rot="0">
              <a:off x="5762715" y="9508479"/>
              <a:ext cx="4227451" cy="1215122"/>
              <a:chOff x="0" y="0"/>
              <a:chExt cx="3935311" cy="1131151"/>
            </a:xfrm>
          </p:grpSpPr>
          <p:sp>
            <p:nvSpPr>
              <p:cNvPr name="Freeform 55" id="55"/>
              <p:cNvSpPr/>
              <p:nvPr/>
            </p:nvSpPr>
            <p:spPr>
              <a:xfrm flipH="false" flipV="false" rot="0">
                <a:off x="16891" y="16891"/>
                <a:ext cx="3901440" cy="1097280"/>
              </a:xfrm>
              <a:custGeom>
                <a:avLst/>
                <a:gdLst/>
                <a:ahLst/>
                <a:cxnLst/>
                <a:rect r="r" b="b" t="t" l="l"/>
                <a:pathLst>
                  <a:path h="1097280" w="3901440">
                    <a:moveTo>
                      <a:pt x="0" y="0"/>
                    </a:moveTo>
                    <a:lnTo>
                      <a:pt x="3901440" y="0"/>
                    </a:lnTo>
                    <a:lnTo>
                      <a:pt x="3901440" y="1097280"/>
                    </a:lnTo>
                    <a:lnTo>
                      <a:pt x="0" y="1097280"/>
                    </a:lnTo>
                    <a:close/>
                  </a:path>
                </a:pathLst>
              </a:custGeom>
              <a:solidFill>
                <a:srgbClr val="3D0A0A"/>
              </a:solidFill>
            </p:spPr>
          </p:sp>
          <p:sp>
            <p:nvSpPr>
              <p:cNvPr name="Freeform 56" id="56"/>
              <p:cNvSpPr/>
              <p:nvPr/>
            </p:nvSpPr>
            <p:spPr>
              <a:xfrm flipH="false" flipV="false" rot="0">
                <a:off x="0" y="0"/>
                <a:ext cx="3935222" cy="1131064"/>
              </a:xfrm>
              <a:custGeom>
                <a:avLst/>
                <a:gdLst/>
                <a:ahLst/>
                <a:cxnLst/>
                <a:rect r="r" b="b" t="t" l="l"/>
                <a:pathLst>
                  <a:path h="1131064" w="3935222">
                    <a:moveTo>
                      <a:pt x="16891" y="0"/>
                    </a:moveTo>
                    <a:lnTo>
                      <a:pt x="3918331" y="0"/>
                    </a:lnTo>
                    <a:cubicBezTo>
                      <a:pt x="3927729" y="0"/>
                      <a:pt x="3935222" y="7620"/>
                      <a:pt x="3935222" y="16891"/>
                    </a:cubicBezTo>
                    <a:lnTo>
                      <a:pt x="3935222" y="1114171"/>
                    </a:lnTo>
                    <a:cubicBezTo>
                      <a:pt x="3935222" y="1123569"/>
                      <a:pt x="3927602" y="1131062"/>
                      <a:pt x="391833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3918331" y="1097280"/>
                    </a:lnTo>
                    <a:lnTo>
                      <a:pt x="3918331" y="1114171"/>
                    </a:lnTo>
                    <a:lnTo>
                      <a:pt x="3901440" y="1114171"/>
                    </a:lnTo>
                    <a:lnTo>
                      <a:pt x="3901440" y="16891"/>
                    </a:lnTo>
                    <a:lnTo>
                      <a:pt x="3918331" y="16891"/>
                    </a:lnTo>
                    <a:lnTo>
                      <a:pt x="3918331" y="33909"/>
                    </a:lnTo>
                    <a:lnTo>
                      <a:pt x="16891" y="33909"/>
                    </a:lnTo>
                    <a:close/>
                  </a:path>
                </a:pathLst>
              </a:custGeom>
              <a:solidFill>
                <a:srgbClr val="E24B4A"/>
              </a:solidFill>
            </p:spPr>
          </p:sp>
        </p:grpSp>
        <p:grpSp>
          <p:nvGrpSpPr>
            <p:cNvPr name="Group 57" id="57"/>
            <p:cNvGrpSpPr/>
            <p:nvPr/>
          </p:nvGrpSpPr>
          <p:grpSpPr>
            <a:xfrm rot="0">
              <a:off x="5780901" y="9579054"/>
              <a:ext cx="4191065" cy="1206022"/>
              <a:chOff x="0" y="0"/>
              <a:chExt cx="3901440" cy="1122679"/>
            </a:xfrm>
          </p:grpSpPr>
          <p:sp>
            <p:nvSpPr>
              <p:cNvPr name="Freeform 58" id="58"/>
              <p:cNvSpPr/>
              <p:nvPr/>
            </p:nvSpPr>
            <p:spPr>
              <a:xfrm flipH="false" flipV="false" rot="0">
                <a:off x="0" y="0"/>
                <a:ext cx="3901440" cy="1122679"/>
              </a:xfrm>
              <a:custGeom>
                <a:avLst/>
                <a:gdLst/>
                <a:ahLst/>
                <a:cxnLst/>
                <a:rect r="r" b="b" t="t" l="l"/>
                <a:pathLst>
                  <a:path h="1122679" w="3901440">
                    <a:moveTo>
                      <a:pt x="0" y="0"/>
                    </a:moveTo>
                    <a:lnTo>
                      <a:pt x="3901440" y="0"/>
                    </a:lnTo>
                    <a:lnTo>
                      <a:pt x="3901440" y="1122679"/>
                    </a:lnTo>
                    <a:lnTo>
                      <a:pt x="0" y="1122679"/>
                    </a:lnTo>
                    <a:close/>
                  </a:path>
                </a:pathLst>
              </a:custGeom>
              <a:blipFill>
                <a:blip r:embed="rId6">
                  <a:alphaModFix amt="0"/>
                </a:blip>
                <a:stretch>
                  <a:fillRect l="0" t="-26445" r="0" b="-8979"/>
                </a:stretch>
              </a:blipFill>
            </p:spPr>
          </p:sp>
          <p:sp>
            <p:nvSpPr>
              <p:cNvPr name="TextBox 59" id="59"/>
              <p:cNvSpPr txBox="true"/>
              <p:nvPr/>
            </p:nvSpPr>
            <p:spPr>
              <a:xfrm>
                <a:off x="0" y="0"/>
                <a:ext cx="3901440" cy="1122679"/>
              </a:xfrm>
              <a:prstGeom prst="rect">
                <a:avLst/>
              </a:prstGeom>
            </p:spPr>
            <p:txBody>
              <a:bodyPr anchor="ctr" rtlCol="false" tIns="0" lIns="0" bIns="0" rIns="0"/>
              <a:lstStyle/>
              <a:p>
                <a:pPr algn="ctr">
                  <a:lnSpc>
                    <a:spcPts val="2400"/>
                  </a:lnSpc>
                </a:pPr>
                <a:r>
                  <a:rPr lang="en-US" sz="2000">
                    <a:solidFill>
                      <a:srgbClr val="E24B4A"/>
                    </a:solidFill>
                    <a:latin typeface="Montserrat"/>
                    <a:ea typeface="Montserrat"/>
                    <a:cs typeface="Montserrat"/>
                    <a:sym typeface="Montserrat"/>
                  </a:rPr>
                  <a:t>FAIL</a:t>
                </a:r>
              </a:p>
              <a:p>
                <a:pPr algn="ctr">
                  <a:lnSpc>
                    <a:spcPts val="2400"/>
                  </a:lnSpc>
                </a:pPr>
                <a:r>
                  <a:rPr lang="en-US" sz="2000">
                    <a:solidFill>
                      <a:srgbClr val="E24B4A"/>
                    </a:solidFill>
                    <a:latin typeface="Montserrat"/>
                    <a:ea typeface="Montserrat"/>
                    <a:cs typeface="Montserrat"/>
                    <a:sym typeface="Montserrat"/>
                  </a:rPr>
                  <a:t>Alert sent</a:t>
                </a:r>
              </a:p>
            </p:txBody>
          </p:sp>
        </p:grpSp>
      </p:grpSp>
      <p:grpSp>
        <p:nvGrpSpPr>
          <p:cNvPr name="Group 60" id="60"/>
          <p:cNvGrpSpPr/>
          <p:nvPr/>
        </p:nvGrpSpPr>
        <p:grpSpPr>
          <a:xfrm rot="0">
            <a:off x="0" y="369283"/>
            <a:ext cx="18288000" cy="892871"/>
            <a:chOff x="0" y="0"/>
            <a:chExt cx="24384000" cy="1190494"/>
          </a:xfrm>
        </p:grpSpPr>
        <p:sp>
          <p:nvSpPr>
            <p:cNvPr name="Freeform 61" id="61"/>
            <p:cNvSpPr/>
            <p:nvPr/>
          </p:nvSpPr>
          <p:spPr>
            <a:xfrm flipH="false" flipV="false" rot="0">
              <a:off x="0" y="0"/>
              <a:ext cx="24384000" cy="1190494"/>
            </a:xfrm>
            <a:custGeom>
              <a:avLst/>
              <a:gdLst/>
              <a:ahLst/>
              <a:cxnLst/>
              <a:rect r="r" b="b" t="t" l="l"/>
              <a:pathLst>
                <a:path h="1190494" w="24384000">
                  <a:moveTo>
                    <a:pt x="0" y="0"/>
                  </a:moveTo>
                  <a:lnTo>
                    <a:pt x="24384000" y="0"/>
                  </a:lnTo>
                  <a:lnTo>
                    <a:pt x="24384000" y="1190494"/>
                  </a:lnTo>
                  <a:lnTo>
                    <a:pt x="0" y="1190494"/>
                  </a:lnTo>
                  <a:close/>
                </a:path>
              </a:pathLst>
            </a:custGeom>
            <a:blipFill>
              <a:blip r:embed="rId6">
                <a:alphaModFix amt="0"/>
              </a:blip>
              <a:stretch>
                <a:fillRect l="0" t="-159006" r="53999" b="-108163"/>
              </a:stretch>
            </a:blipFill>
          </p:spPr>
        </p:sp>
        <p:sp>
          <p:nvSpPr>
            <p:cNvPr name="TextBox 62" id="62"/>
            <p:cNvSpPr txBox="true"/>
            <p:nvPr/>
          </p:nvSpPr>
          <p:spPr>
            <a:xfrm>
              <a:off x="0" y="9525"/>
              <a:ext cx="24384000" cy="1180969"/>
            </a:xfrm>
            <a:prstGeom prst="rect">
              <a:avLst/>
            </a:prstGeom>
          </p:spPr>
          <p:txBody>
            <a:bodyPr anchor="ctr" rtlCol="false" tIns="0" lIns="0" bIns="0" rIns="0"/>
            <a:lstStyle/>
            <a:p>
              <a:pPr algn="ctr">
                <a:lnSpc>
                  <a:spcPts val="5399"/>
                </a:lnSpc>
              </a:pPr>
              <a:r>
                <a:rPr lang="en-US" b="true" sz="4499">
                  <a:solidFill>
                    <a:srgbClr val="FFFFFF"/>
                  </a:solidFill>
                  <a:latin typeface="Montserrat Bold"/>
                  <a:ea typeface="Montserrat Bold"/>
                  <a:cs typeface="Montserrat Bold"/>
                  <a:sym typeface="Montserrat Bold"/>
                </a:rPr>
                <a:t>CI Pipeline: How It Works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5400000">
            <a:off x="180123" y="240164"/>
            <a:ext cx="6391283" cy="6391283"/>
          </a:xfrm>
          <a:custGeom>
            <a:avLst/>
            <a:gdLst/>
            <a:ahLst/>
            <a:cxnLst/>
            <a:rect r="r" b="b" t="t" l="l"/>
            <a:pathLst>
              <a:path h="6391283" w="6391283">
                <a:moveTo>
                  <a:pt x="6391283" y="6391283"/>
                </a:moveTo>
                <a:lnTo>
                  <a:pt x="0" y="6391283"/>
                </a:lnTo>
                <a:lnTo>
                  <a:pt x="0" y="0"/>
                </a:lnTo>
                <a:lnTo>
                  <a:pt x="6391283" y="0"/>
                </a:lnTo>
                <a:lnTo>
                  <a:pt x="6391283" y="639128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2437179" y="4841813"/>
            <a:ext cx="6331149" cy="6331149"/>
          </a:xfrm>
          <a:custGeom>
            <a:avLst/>
            <a:gdLst/>
            <a:ahLst/>
            <a:cxnLst/>
            <a:rect r="r" b="b" t="t" l="l"/>
            <a:pathLst>
              <a:path h="6331149" w="6331149">
                <a:moveTo>
                  <a:pt x="6331149" y="6331149"/>
                </a:moveTo>
                <a:lnTo>
                  <a:pt x="0" y="6331149"/>
                </a:lnTo>
                <a:lnTo>
                  <a:pt x="0" y="0"/>
                </a:lnTo>
                <a:lnTo>
                  <a:pt x="6331149" y="0"/>
                </a:lnTo>
                <a:lnTo>
                  <a:pt x="6331149" y="6331149"/>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95960" y="3148675"/>
            <a:ext cx="17296081" cy="3989650"/>
            <a:chOff x="0" y="0"/>
            <a:chExt cx="23061441" cy="5319533"/>
          </a:xfrm>
        </p:grpSpPr>
        <p:grpSp>
          <p:nvGrpSpPr>
            <p:cNvPr name="Group 5" id="5"/>
            <p:cNvGrpSpPr/>
            <p:nvPr/>
          </p:nvGrpSpPr>
          <p:grpSpPr>
            <a:xfrm rot="0">
              <a:off x="0" y="1064108"/>
              <a:ext cx="5462269" cy="3256507"/>
              <a:chOff x="0" y="0"/>
              <a:chExt cx="2838031" cy="1691983"/>
            </a:xfrm>
          </p:grpSpPr>
          <p:sp>
            <p:nvSpPr>
              <p:cNvPr name="Freeform 6" id="6"/>
              <p:cNvSpPr/>
              <p:nvPr/>
            </p:nvSpPr>
            <p:spPr>
              <a:xfrm flipH="false" flipV="false" rot="0">
                <a:off x="16891" y="16891"/>
                <a:ext cx="2804160" cy="1658112"/>
              </a:xfrm>
              <a:custGeom>
                <a:avLst/>
                <a:gdLst/>
                <a:ahLst/>
                <a:cxnLst/>
                <a:rect r="r" b="b" t="t" l="l"/>
                <a:pathLst>
                  <a:path h="1658112" w="2804160">
                    <a:moveTo>
                      <a:pt x="0" y="0"/>
                    </a:moveTo>
                    <a:lnTo>
                      <a:pt x="2804160" y="0"/>
                    </a:lnTo>
                    <a:lnTo>
                      <a:pt x="2804160" y="1658112"/>
                    </a:lnTo>
                    <a:lnTo>
                      <a:pt x="0" y="1658112"/>
                    </a:lnTo>
                    <a:close/>
                  </a:path>
                </a:pathLst>
              </a:custGeom>
              <a:solidFill>
                <a:srgbClr val="161B22"/>
              </a:solidFill>
            </p:spPr>
          </p:sp>
          <p:sp>
            <p:nvSpPr>
              <p:cNvPr name="Freeform 7" id="7"/>
              <p:cNvSpPr/>
              <p:nvPr/>
            </p:nvSpPr>
            <p:spPr>
              <a:xfrm flipH="false" flipV="false" rot="0">
                <a:off x="0" y="0"/>
                <a:ext cx="2837942" cy="1691894"/>
              </a:xfrm>
              <a:custGeom>
                <a:avLst/>
                <a:gdLst/>
                <a:ahLst/>
                <a:cxnLst/>
                <a:rect r="r" b="b" t="t" l="l"/>
                <a:pathLst>
                  <a:path h="1691894" w="2837942">
                    <a:moveTo>
                      <a:pt x="16891" y="0"/>
                    </a:moveTo>
                    <a:lnTo>
                      <a:pt x="2821051" y="0"/>
                    </a:lnTo>
                    <a:cubicBezTo>
                      <a:pt x="2830449" y="0"/>
                      <a:pt x="2837942" y="7620"/>
                      <a:pt x="2837942" y="16891"/>
                    </a:cubicBezTo>
                    <a:lnTo>
                      <a:pt x="2837942" y="1675003"/>
                    </a:lnTo>
                    <a:cubicBezTo>
                      <a:pt x="2837942" y="1684401"/>
                      <a:pt x="2830322" y="1691894"/>
                      <a:pt x="282105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821051" y="1658112"/>
                    </a:lnTo>
                    <a:lnTo>
                      <a:pt x="2821051" y="1675003"/>
                    </a:lnTo>
                    <a:lnTo>
                      <a:pt x="2804160" y="1675003"/>
                    </a:lnTo>
                    <a:lnTo>
                      <a:pt x="2804160" y="16891"/>
                    </a:lnTo>
                    <a:lnTo>
                      <a:pt x="2821051" y="16891"/>
                    </a:lnTo>
                    <a:lnTo>
                      <a:pt x="2821051" y="33909"/>
                    </a:lnTo>
                    <a:lnTo>
                      <a:pt x="16891" y="33909"/>
                    </a:lnTo>
                    <a:close/>
                  </a:path>
                </a:pathLst>
              </a:custGeom>
              <a:solidFill>
                <a:srgbClr val="1D9E75"/>
              </a:solidFill>
            </p:spPr>
          </p:sp>
        </p:grpSp>
        <p:grpSp>
          <p:nvGrpSpPr>
            <p:cNvPr name="Group 8" id="8"/>
            <p:cNvGrpSpPr/>
            <p:nvPr/>
          </p:nvGrpSpPr>
          <p:grpSpPr>
            <a:xfrm rot="0">
              <a:off x="0" y="1064108"/>
              <a:ext cx="5462269" cy="628364"/>
              <a:chOff x="0" y="0"/>
              <a:chExt cx="2838031" cy="326479"/>
            </a:xfrm>
          </p:grpSpPr>
          <p:sp>
            <p:nvSpPr>
              <p:cNvPr name="Freeform 9" id="9"/>
              <p:cNvSpPr/>
              <p:nvPr/>
            </p:nvSpPr>
            <p:spPr>
              <a:xfrm flipH="false" flipV="false" rot="0">
                <a:off x="16891" y="16891"/>
                <a:ext cx="2804160" cy="292608"/>
              </a:xfrm>
              <a:custGeom>
                <a:avLst/>
                <a:gdLst/>
                <a:ahLst/>
                <a:cxnLst/>
                <a:rect r="r" b="b" t="t" l="l"/>
                <a:pathLst>
                  <a:path h="292608" w="2804160">
                    <a:moveTo>
                      <a:pt x="0" y="0"/>
                    </a:moveTo>
                    <a:lnTo>
                      <a:pt x="2804160" y="0"/>
                    </a:lnTo>
                    <a:lnTo>
                      <a:pt x="2804160" y="292608"/>
                    </a:lnTo>
                    <a:lnTo>
                      <a:pt x="0" y="292608"/>
                    </a:lnTo>
                    <a:close/>
                  </a:path>
                </a:pathLst>
              </a:custGeom>
              <a:solidFill>
                <a:srgbClr val="1D9E75"/>
              </a:solidFill>
            </p:spPr>
          </p:sp>
          <p:sp>
            <p:nvSpPr>
              <p:cNvPr name="Freeform 10" id="10"/>
              <p:cNvSpPr/>
              <p:nvPr/>
            </p:nvSpPr>
            <p:spPr>
              <a:xfrm flipH="false" flipV="false" rot="0">
                <a:off x="0" y="0"/>
                <a:ext cx="2837942" cy="326392"/>
              </a:xfrm>
              <a:custGeom>
                <a:avLst/>
                <a:gdLst/>
                <a:ahLst/>
                <a:cxnLst/>
                <a:rect r="r" b="b" t="t" l="l"/>
                <a:pathLst>
                  <a:path h="326392" w="2837942">
                    <a:moveTo>
                      <a:pt x="16891" y="0"/>
                    </a:moveTo>
                    <a:lnTo>
                      <a:pt x="2821051" y="0"/>
                    </a:lnTo>
                    <a:cubicBezTo>
                      <a:pt x="2830449" y="0"/>
                      <a:pt x="2837942" y="7620"/>
                      <a:pt x="2837942" y="16891"/>
                    </a:cubicBezTo>
                    <a:lnTo>
                      <a:pt x="2837942" y="309499"/>
                    </a:lnTo>
                    <a:cubicBezTo>
                      <a:pt x="2837942" y="318897"/>
                      <a:pt x="2830322" y="326390"/>
                      <a:pt x="2821051" y="326390"/>
                    </a:cubicBezTo>
                    <a:lnTo>
                      <a:pt x="16891" y="326390"/>
                    </a:lnTo>
                    <a:cubicBezTo>
                      <a:pt x="7620" y="326517"/>
                      <a:pt x="0" y="318897"/>
                      <a:pt x="0" y="309499"/>
                    </a:cubicBezTo>
                    <a:lnTo>
                      <a:pt x="0" y="16891"/>
                    </a:lnTo>
                    <a:cubicBezTo>
                      <a:pt x="0" y="7620"/>
                      <a:pt x="7620" y="0"/>
                      <a:pt x="16891" y="0"/>
                    </a:cubicBezTo>
                    <a:moveTo>
                      <a:pt x="16891" y="33909"/>
                    </a:moveTo>
                    <a:lnTo>
                      <a:pt x="16891" y="16891"/>
                    </a:lnTo>
                    <a:lnTo>
                      <a:pt x="33909" y="16891"/>
                    </a:lnTo>
                    <a:lnTo>
                      <a:pt x="33909" y="309499"/>
                    </a:lnTo>
                    <a:lnTo>
                      <a:pt x="16891" y="309499"/>
                    </a:lnTo>
                    <a:lnTo>
                      <a:pt x="16891" y="292608"/>
                    </a:lnTo>
                    <a:lnTo>
                      <a:pt x="2821051" y="292608"/>
                    </a:lnTo>
                    <a:lnTo>
                      <a:pt x="2821051" y="309499"/>
                    </a:lnTo>
                    <a:lnTo>
                      <a:pt x="2804160" y="309499"/>
                    </a:lnTo>
                    <a:lnTo>
                      <a:pt x="2804160" y="16891"/>
                    </a:lnTo>
                    <a:lnTo>
                      <a:pt x="2821051" y="16891"/>
                    </a:lnTo>
                    <a:lnTo>
                      <a:pt x="2821051" y="33909"/>
                    </a:lnTo>
                    <a:lnTo>
                      <a:pt x="16891" y="33909"/>
                    </a:lnTo>
                    <a:close/>
                  </a:path>
                </a:pathLst>
              </a:custGeom>
              <a:solidFill>
                <a:srgbClr val="1D9E75"/>
              </a:solidFill>
            </p:spPr>
          </p:sp>
        </p:grpSp>
        <p:grpSp>
          <p:nvGrpSpPr>
            <p:cNvPr name="Group 11" id="11"/>
            <p:cNvGrpSpPr/>
            <p:nvPr/>
          </p:nvGrpSpPr>
          <p:grpSpPr>
            <a:xfrm rot="0">
              <a:off x="267239" y="1800658"/>
              <a:ext cx="4927768" cy="2346556"/>
              <a:chOff x="0" y="0"/>
              <a:chExt cx="2560320" cy="1219200"/>
            </a:xfrm>
          </p:grpSpPr>
          <p:sp>
            <p:nvSpPr>
              <p:cNvPr name="Freeform 12" id="12"/>
              <p:cNvSpPr/>
              <p:nvPr/>
            </p:nvSpPr>
            <p:spPr>
              <a:xfrm flipH="false" flipV="false" rot="0">
                <a:off x="0" y="0"/>
                <a:ext cx="2560320" cy="1219200"/>
              </a:xfrm>
              <a:custGeom>
                <a:avLst/>
                <a:gdLst/>
                <a:ahLst/>
                <a:cxnLst/>
                <a:rect r="r" b="b" t="t" l="l"/>
                <a:pathLst>
                  <a:path h="1219200" w="2560320">
                    <a:moveTo>
                      <a:pt x="0" y="0"/>
                    </a:moveTo>
                    <a:lnTo>
                      <a:pt x="2560320" y="0"/>
                    </a:lnTo>
                    <a:lnTo>
                      <a:pt x="2560320" y="1219200"/>
                    </a:lnTo>
                    <a:lnTo>
                      <a:pt x="0" y="1219200"/>
                    </a:lnTo>
                    <a:close/>
                  </a:path>
                </a:pathLst>
              </a:custGeom>
              <a:blipFill>
                <a:blip r:embed="rId6">
                  <a:alphaModFix amt="0"/>
                </a:blip>
                <a:stretch>
                  <a:fillRect l="-11096" t="0" r="-11096" b="0"/>
                </a:stretch>
              </a:blipFill>
            </p:spPr>
          </p:sp>
          <p:sp>
            <p:nvSpPr>
              <p:cNvPr name="TextBox 13" id="13"/>
              <p:cNvSpPr txBox="true"/>
              <p:nvPr/>
            </p:nvSpPr>
            <p:spPr>
              <a:xfrm>
                <a:off x="0" y="0"/>
                <a:ext cx="2560320" cy="1219200"/>
              </a:xfrm>
              <a:prstGeom prst="rect">
                <a:avLst/>
              </a:prstGeom>
            </p:spPr>
            <p:txBody>
              <a:bodyPr anchor="ctr" rtlCol="false" tIns="0" lIns="0" bIns="0" rIns="0"/>
              <a:lstStyle/>
              <a:p>
                <a:pPr algn="ctr">
                  <a:lnSpc>
                    <a:spcPts val="2640"/>
                  </a:lnSpc>
                </a:pPr>
                <a:r>
                  <a:rPr lang="en-US" sz="2200" b="true">
                    <a:solidFill>
                      <a:srgbClr val="F0F0F0"/>
                    </a:solidFill>
                    <a:latin typeface="Montserrat Bold"/>
                    <a:ea typeface="Montserrat Bold"/>
                    <a:cs typeface="Montserrat Bold"/>
                    <a:sym typeface="Montserrat Bold"/>
                  </a:rPr>
                  <a:t>CI passed</a:t>
                </a:r>
              </a:p>
              <a:p>
                <a:pPr algn="ctr">
                  <a:lnSpc>
                    <a:spcPts val="2640"/>
                  </a:lnSpc>
                </a:pPr>
                <a:r>
                  <a:rPr lang="en-US" sz="2200" b="true">
                    <a:solidFill>
                      <a:srgbClr val="F0F0F0"/>
                    </a:solidFill>
                    <a:latin typeface="Montserrat Bold"/>
                    <a:ea typeface="Montserrat Bold"/>
                    <a:cs typeface="Montserrat Bold"/>
                    <a:sym typeface="Montserrat Bold"/>
                  </a:rPr>
                  <a:t>(code merged)</a:t>
                </a:r>
              </a:p>
            </p:txBody>
          </p:sp>
        </p:grpSp>
        <p:grpSp>
          <p:nvGrpSpPr>
            <p:cNvPr name="Group 14" id="14"/>
            <p:cNvGrpSpPr/>
            <p:nvPr/>
          </p:nvGrpSpPr>
          <p:grpSpPr>
            <a:xfrm rot="0">
              <a:off x="5397079" y="2659766"/>
              <a:ext cx="534501" cy="65190"/>
              <a:chOff x="0" y="0"/>
              <a:chExt cx="277711" cy="33871"/>
            </a:xfrm>
          </p:grpSpPr>
          <p:sp>
            <p:nvSpPr>
              <p:cNvPr name="Freeform 15" id="15"/>
              <p:cNvSpPr/>
              <p:nvPr/>
            </p:nvSpPr>
            <p:spPr>
              <a:xfrm flipH="false" flipV="false" rot="0">
                <a:off x="16891" y="0"/>
                <a:ext cx="243840" cy="33909"/>
              </a:xfrm>
              <a:custGeom>
                <a:avLst/>
                <a:gdLst/>
                <a:ahLst/>
                <a:cxnLst/>
                <a:rect r="r" b="b" t="t" l="l"/>
                <a:pathLst>
                  <a:path h="33909" w="243840">
                    <a:moveTo>
                      <a:pt x="0" y="0"/>
                    </a:moveTo>
                    <a:lnTo>
                      <a:pt x="243840" y="0"/>
                    </a:lnTo>
                    <a:lnTo>
                      <a:pt x="243840" y="33909"/>
                    </a:lnTo>
                    <a:lnTo>
                      <a:pt x="0" y="33909"/>
                    </a:lnTo>
                    <a:close/>
                  </a:path>
                </a:pathLst>
              </a:custGeom>
              <a:solidFill>
                <a:srgbClr val="6E7681"/>
              </a:solidFill>
            </p:spPr>
          </p:sp>
        </p:grpSp>
        <p:grpSp>
          <p:nvGrpSpPr>
            <p:cNvPr name="Group 16" id="16"/>
            <p:cNvGrpSpPr/>
            <p:nvPr/>
          </p:nvGrpSpPr>
          <p:grpSpPr>
            <a:xfrm rot="0">
              <a:off x="5485234" y="363752"/>
              <a:ext cx="1296789" cy="4722409"/>
              <a:chOff x="0" y="0"/>
              <a:chExt cx="365760" cy="1331958"/>
            </a:xfrm>
          </p:grpSpPr>
          <p:sp>
            <p:nvSpPr>
              <p:cNvPr name="Freeform 17" id="17"/>
              <p:cNvSpPr/>
              <p:nvPr/>
            </p:nvSpPr>
            <p:spPr>
              <a:xfrm flipH="false" flipV="false" rot="0">
                <a:off x="0" y="0"/>
                <a:ext cx="365760" cy="1331958"/>
              </a:xfrm>
              <a:custGeom>
                <a:avLst/>
                <a:gdLst/>
                <a:ahLst/>
                <a:cxnLst/>
                <a:rect r="r" b="b" t="t" l="l"/>
                <a:pathLst>
                  <a:path h="1331958" w="365760">
                    <a:moveTo>
                      <a:pt x="0" y="0"/>
                    </a:moveTo>
                    <a:lnTo>
                      <a:pt x="365760" y="0"/>
                    </a:lnTo>
                    <a:lnTo>
                      <a:pt x="365760" y="1331958"/>
                    </a:lnTo>
                    <a:lnTo>
                      <a:pt x="0" y="1331958"/>
                    </a:lnTo>
                    <a:close/>
                  </a:path>
                </a:pathLst>
              </a:custGeom>
              <a:blipFill>
                <a:blip r:embed="rId6">
                  <a:alphaModFix amt="0"/>
                </a:blip>
                <a:stretch>
                  <a:fillRect l="-121071" t="0" r="-121071" b="63386"/>
                </a:stretch>
              </a:blipFill>
            </p:spPr>
          </p:sp>
          <p:sp>
            <p:nvSpPr>
              <p:cNvPr name="TextBox 18" id="18"/>
              <p:cNvSpPr txBox="true"/>
              <p:nvPr/>
            </p:nvSpPr>
            <p:spPr>
              <a:xfrm>
                <a:off x="0" y="0"/>
                <a:ext cx="365760" cy="1331958"/>
              </a:xfrm>
              <a:prstGeom prst="rect">
                <a:avLst/>
              </a:prstGeom>
            </p:spPr>
            <p:txBody>
              <a:bodyPr anchor="ctr" rtlCol="false" tIns="0" lIns="0" bIns="0" rIns="0"/>
              <a:lstStyle/>
              <a:p>
                <a:pPr algn="l">
                  <a:lnSpc>
                    <a:spcPts val="6599"/>
                  </a:lnSpc>
                </a:pPr>
                <a:r>
                  <a:rPr lang="en-US" sz="5499" b="true">
                    <a:solidFill>
                      <a:srgbClr val="6E7681"/>
                    </a:solidFill>
                    <a:latin typeface="Montserrat Bold"/>
                    <a:ea typeface="Montserrat Bold"/>
                    <a:cs typeface="Montserrat Bold"/>
                    <a:sym typeface="Montserrat Bold"/>
                  </a:rPr>
                  <a:t>›</a:t>
                </a:r>
              </a:p>
            </p:txBody>
          </p:sp>
        </p:grpSp>
        <p:grpSp>
          <p:nvGrpSpPr>
            <p:cNvPr name="Group 19" id="19"/>
            <p:cNvGrpSpPr/>
            <p:nvPr/>
          </p:nvGrpSpPr>
          <p:grpSpPr>
            <a:xfrm rot="0">
              <a:off x="5866390" y="1064108"/>
              <a:ext cx="5462269" cy="3256507"/>
              <a:chOff x="0" y="0"/>
              <a:chExt cx="2838031" cy="1691983"/>
            </a:xfrm>
          </p:grpSpPr>
          <p:sp>
            <p:nvSpPr>
              <p:cNvPr name="Freeform 20" id="20"/>
              <p:cNvSpPr/>
              <p:nvPr/>
            </p:nvSpPr>
            <p:spPr>
              <a:xfrm flipH="false" flipV="false" rot="0">
                <a:off x="16891" y="16891"/>
                <a:ext cx="2804160" cy="1658112"/>
              </a:xfrm>
              <a:custGeom>
                <a:avLst/>
                <a:gdLst/>
                <a:ahLst/>
                <a:cxnLst/>
                <a:rect r="r" b="b" t="t" l="l"/>
                <a:pathLst>
                  <a:path h="1658112" w="2804160">
                    <a:moveTo>
                      <a:pt x="0" y="0"/>
                    </a:moveTo>
                    <a:lnTo>
                      <a:pt x="2804160" y="0"/>
                    </a:lnTo>
                    <a:lnTo>
                      <a:pt x="2804160" y="1658112"/>
                    </a:lnTo>
                    <a:lnTo>
                      <a:pt x="0" y="1658112"/>
                    </a:lnTo>
                    <a:close/>
                  </a:path>
                </a:pathLst>
              </a:custGeom>
              <a:solidFill>
                <a:srgbClr val="161B22"/>
              </a:solidFill>
            </p:spPr>
          </p:sp>
          <p:sp>
            <p:nvSpPr>
              <p:cNvPr name="Freeform 21" id="21"/>
              <p:cNvSpPr/>
              <p:nvPr/>
            </p:nvSpPr>
            <p:spPr>
              <a:xfrm flipH="false" flipV="false" rot="0">
                <a:off x="0" y="0"/>
                <a:ext cx="2837942" cy="1691894"/>
              </a:xfrm>
              <a:custGeom>
                <a:avLst/>
                <a:gdLst/>
                <a:ahLst/>
                <a:cxnLst/>
                <a:rect r="r" b="b" t="t" l="l"/>
                <a:pathLst>
                  <a:path h="1691894" w="2837942">
                    <a:moveTo>
                      <a:pt x="16891" y="0"/>
                    </a:moveTo>
                    <a:lnTo>
                      <a:pt x="2821051" y="0"/>
                    </a:lnTo>
                    <a:cubicBezTo>
                      <a:pt x="2830449" y="0"/>
                      <a:pt x="2837942" y="7620"/>
                      <a:pt x="2837942" y="16891"/>
                    </a:cubicBezTo>
                    <a:lnTo>
                      <a:pt x="2837942" y="1675003"/>
                    </a:lnTo>
                    <a:cubicBezTo>
                      <a:pt x="2837942" y="1684401"/>
                      <a:pt x="2830322" y="1691894"/>
                      <a:pt x="282105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821051" y="1658112"/>
                    </a:lnTo>
                    <a:lnTo>
                      <a:pt x="2821051" y="1675003"/>
                    </a:lnTo>
                    <a:lnTo>
                      <a:pt x="2804160" y="1675003"/>
                    </a:lnTo>
                    <a:lnTo>
                      <a:pt x="2804160" y="16891"/>
                    </a:lnTo>
                    <a:lnTo>
                      <a:pt x="2821051" y="16891"/>
                    </a:lnTo>
                    <a:lnTo>
                      <a:pt x="2821051" y="33909"/>
                    </a:lnTo>
                    <a:lnTo>
                      <a:pt x="16891" y="33909"/>
                    </a:lnTo>
                    <a:close/>
                  </a:path>
                </a:pathLst>
              </a:custGeom>
              <a:solidFill>
                <a:srgbClr val="378ADD"/>
              </a:solidFill>
            </p:spPr>
          </p:sp>
        </p:grpSp>
        <p:grpSp>
          <p:nvGrpSpPr>
            <p:cNvPr name="Group 22" id="22"/>
            <p:cNvGrpSpPr/>
            <p:nvPr/>
          </p:nvGrpSpPr>
          <p:grpSpPr>
            <a:xfrm rot="0">
              <a:off x="5866390" y="1064108"/>
              <a:ext cx="5462269" cy="628364"/>
              <a:chOff x="0" y="0"/>
              <a:chExt cx="2838031" cy="326479"/>
            </a:xfrm>
          </p:grpSpPr>
          <p:sp>
            <p:nvSpPr>
              <p:cNvPr name="Freeform 23" id="23"/>
              <p:cNvSpPr/>
              <p:nvPr/>
            </p:nvSpPr>
            <p:spPr>
              <a:xfrm flipH="false" flipV="false" rot="0">
                <a:off x="16891" y="16891"/>
                <a:ext cx="2804160" cy="292608"/>
              </a:xfrm>
              <a:custGeom>
                <a:avLst/>
                <a:gdLst/>
                <a:ahLst/>
                <a:cxnLst/>
                <a:rect r="r" b="b" t="t" l="l"/>
                <a:pathLst>
                  <a:path h="292608" w="2804160">
                    <a:moveTo>
                      <a:pt x="0" y="0"/>
                    </a:moveTo>
                    <a:lnTo>
                      <a:pt x="2804160" y="0"/>
                    </a:lnTo>
                    <a:lnTo>
                      <a:pt x="2804160" y="292608"/>
                    </a:lnTo>
                    <a:lnTo>
                      <a:pt x="0" y="292608"/>
                    </a:lnTo>
                    <a:close/>
                  </a:path>
                </a:pathLst>
              </a:custGeom>
              <a:solidFill>
                <a:srgbClr val="378ADD"/>
              </a:solidFill>
            </p:spPr>
          </p:sp>
          <p:sp>
            <p:nvSpPr>
              <p:cNvPr name="Freeform 24" id="24"/>
              <p:cNvSpPr/>
              <p:nvPr/>
            </p:nvSpPr>
            <p:spPr>
              <a:xfrm flipH="false" flipV="false" rot="0">
                <a:off x="0" y="0"/>
                <a:ext cx="2837942" cy="326392"/>
              </a:xfrm>
              <a:custGeom>
                <a:avLst/>
                <a:gdLst/>
                <a:ahLst/>
                <a:cxnLst/>
                <a:rect r="r" b="b" t="t" l="l"/>
                <a:pathLst>
                  <a:path h="326392" w="2837942">
                    <a:moveTo>
                      <a:pt x="16891" y="0"/>
                    </a:moveTo>
                    <a:lnTo>
                      <a:pt x="2821051" y="0"/>
                    </a:lnTo>
                    <a:cubicBezTo>
                      <a:pt x="2830449" y="0"/>
                      <a:pt x="2837942" y="7620"/>
                      <a:pt x="2837942" y="16891"/>
                    </a:cubicBezTo>
                    <a:lnTo>
                      <a:pt x="2837942" y="309499"/>
                    </a:lnTo>
                    <a:cubicBezTo>
                      <a:pt x="2837942" y="318897"/>
                      <a:pt x="2830322" y="326390"/>
                      <a:pt x="2821051" y="326390"/>
                    </a:cubicBezTo>
                    <a:lnTo>
                      <a:pt x="16891" y="326390"/>
                    </a:lnTo>
                    <a:cubicBezTo>
                      <a:pt x="7620" y="326517"/>
                      <a:pt x="0" y="318897"/>
                      <a:pt x="0" y="309499"/>
                    </a:cubicBezTo>
                    <a:lnTo>
                      <a:pt x="0" y="16891"/>
                    </a:lnTo>
                    <a:cubicBezTo>
                      <a:pt x="0" y="7620"/>
                      <a:pt x="7620" y="0"/>
                      <a:pt x="16891" y="0"/>
                    </a:cubicBezTo>
                    <a:moveTo>
                      <a:pt x="16891" y="33909"/>
                    </a:moveTo>
                    <a:lnTo>
                      <a:pt x="16891" y="16891"/>
                    </a:lnTo>
                    <a:lnTo>
                      <a:pt x="33909" y="16891"/>
                    </a:lnTo>
                    <a:lnTo>
                      <a:pt x="33909" y="309499"/>
                    </a:lnTo>
                    <a:lnTo>
                      <a:pt x="16891" y="309499"/>
                    </a:lnTo>
                    <a:lnTo>
                      <a:pt x="16891" y="292608"/>
                    </a:lnTo>
                    <a:lnTo>
                      <a:pt x="2821051" y="292608"/>
                    </a:lnTo>
                    <a:lnTo>
                      <a:pt x="2821051" y="309499"/>
                    </a:lnTo>
                    <a:lnTo>
                      <a:pt x="2804160" y="309499"/>
                    </a:lnTo>
                    <a:lnTo>
                      <a:pt x="2804160" y="16891"/>
                    </a:lnTo>
                    <a:lnTo>
                      <a:pt x="2821051" y="16891"/>
                    </a:lnTo>
                    <a:lnTo>
                      <a:pt x="2821051" y="33909"/>
                    </a:lnTo>
                    <a:lnTo>
                      <a:pt x="16891" y="33909"/>
                    </a:lnTo>
                    <a:close/>
                  </a:path>
                </a:pathLst>
              </a:custGeom>
              <a:solidFill>
                <a:srgbClr val="378ADD"/>
              </a:solidFill>
            </p:spPr>
          </p:sp>
        </p:grpSp>
        <p:grpSp>
          <p:nvGrpSpPr>
            <p:cNvPr name="Group 25" id="25"/>
            <p:cNvGrpSpPr/>
            <p:nvPr/>
          </p:nvGrpSpPr>
          <p:grpSpPr>
            <a:xfrm rot="0">
              <a:off x="6133629" y="1800658"/>
              <a:ext cx="4927768" cy="2346556"/>
              <a:chOff x="0" y="0"/>
              <a:chExt cx="2560320" cy="1219200"/>
            </a:xfrm>
          </p:grpSpPr>
          <p:sp>
            <p:nvSpPr>
              <p:cNvPr name="Freeform 26" id="26"/>
              <p:cNvSpPr/>
              <p:nvPr/>
            </p:nvSpPr>
            <p:spPr>
              <a:xfrm flipH="false" flipV="false" rot="0">
                <a:off x="0" y="0"/>
                <a:ext cx="2560320" cy="1219200"/>
              </a:xfrm>
              <a:custGeom>
                <a:avLst/>
                <a:gdLst/>
                <a:ahLst/>
                <a:cxnLst/>
                <a:rect r="r" b="b" t="t" l="l"/>
                <a:pathLst>
                  <a:path h="1219200" w="2560320">
                    <a:moveTo>
                      <a:pt x="0" y="0"/>
                    </a:moveTo>
                    <a:lnTo>
                      <a:pt x="2560320" y="0"/>
                    </a:lnTo>
                    <a:lnTo>
                      <a:pt x="2560320" y="1219200"/>
                    </a:lnTo>
                    <a:lnTo>
                      <a:pt x="0" y="1219200"/>
                    </a:lnTo>
                    <a:close/>
                  </a:path>
                </a:pathLst>
              </a:custGeom>
              <a:blipFill>
                <a:blip r:embed="rId6">
                  <a:alphaModFix amt="0"/>
                </a:blip>
                <a:stretch>
                  <a:fillRect l="-11096" t="0" r="-11096" b="0"/>
                </a:stretch>
              </a:blipFill>
            </p:spPr>
          </p:sp>
          <p:sp>
            <p:nvSpPr>
              <p:cNvPr name="TextBox 27" id="27"/>
              <p:cNvSpPr txBox="true"/>
              <p:nvPr/>
            </p:nvSpPr>
            <p:spPr>
              <a:xfrm>
                <a:off x="0" y="0"/>
                <a:ext cx="2560320" cy="1219200"/>
              </a:xfrm>
              <a:prstGeom prst="rect">
                <a:avLst/>
              </a:prstGeom>
            </p:spPr>
            <p:txBody>
              <a:bodyPr anchor="ctr" rtlCol="false" tIns="0" lIns="0" bIns="0" rIns="0"/>
              <a:lstStyle/>
              <a:p>
                <a:pPr algn="ctr">
                  <a:lnSpc>
                    <a:spcPts val="2640"/>
                  </a:lnSpc>
                </a:pPr>
                <a:r>
                  <a:rPr lang="en-US" sz="2200" b="true">
                    <a:solidFill>
                      <a:srgbClr val="F0F0F0"/>
                    </a:solidFill>
                    <a:latin typeface="Montserrat Bold"/>
                    <a:ea typeface="Montserrat Bold"/>
                    <a:cs typeface="Montserrat Bold"/>
                    <a:sym typeface="Montserrat Bold"/>
                  </a:rPr>
                  <a:t>Build</a:t>
                </a:r>
              </a:p>
              <a:p>
                <a:pPr algn="ctr">
                  <a:lnSpc>
                    <a:spcPts val="2640"/>
                  </a:lnSpc>
                </a:pPr>
                <a:r>
                  <a:rPr lang="en-US" sz="2200" b="true">
                    <a:solidFill>
                      <a:srgbClr val="F0F0F0"/>
                    </a:solidFill>
                    <a:latin typeface="Montserrat Bold"/>
                    <a:ea typeface="Montserrat Bold"/>
                    <a:cs typeface="Montserrat Bold"/>
                    <a:sym typeface="Montserrat Bold"/>
                  </a:rPr>
                  <a:t>artifact</a:t>
                </a:r>
              </a:p>
            </p:txBody>
          </p:sp>
        </p:grpSp>
        <p:grpSp>
          <p:nvGrpSpPr>
            <p:cNvPr name="Group 28" id="28"/>
            <p:cNvGrpSpPr/>
            <p:nvPr/>
          </p:nvGrpSpPr>
          <p:grpSpPr>
            <a:xfrm rot="0">
              <a:off x="11263470" y="2659766"/>
              <a:ext cx="534501" cy="65190"/>
              <a:chOff x="0" y="0"/>
              <a:chExt cx="277711" cy="33871"/>
            </a:xfrm>
          </p:grpSpPr>
          <p:sp>
            <p:nvSpPr>
              <p:cNvPr name="Freeform 29" id="29"/>
              <p:cNvSpPr/>
              <p:nvPr/>
            </p:nvSpPr>
            <p:spPr>
              <a:xfrm flipH="false" flipV="false" rot="0">
                <a:off x="16891" y="0"/>
                <a:ext cx="243840" cy="33909"/>
              </a:xfrm>
              <a:custGeom>
                <a:avLst/>
                <a:gdLst/>
                <a:ahLst/>
                <a:cxnLst/>
                <a:rect r="r" b="b" t="t" l="l"/>
                <a:pathLst>
                  <a:path h="33909" w="243840">
                    <a:moveTo>
                      <a:pt x="0" y="0"/>
                    </a:moveTo>
                    <a:lnTo>
                      <a:pt x="243840" y="0"/>
                    </a:lnTo>
                    <a:lnTo>
                      <a:pt x="243840" y="33909"/>
                    </a:lnTo>
                    <a:lnTo>
                      <a:pt x="0" y="33909"/>
                    </a:lnTo>
                    <a:close/>
                  </a:path>
                </a:pathLst>
              </a:custGeom>
              <a:solidFill>
                <a:srgbClr val="6E7681"/>
              </a:solidFill>
            </p:spPr>
          </p:sp>
        </p:grpSp>
        <p:grpSp>
          <p:nvGrpSpPr>
            <p:cNvPr name="Group 30" id="30"/>
            <p:cNvGrpSpPr/>
            <p:nvPr/>
          </p:nvGrpSpPr>
          <p:grpSpPr>
            <a:xfrm rot="0">
              <a:off x="11346734" y="75088"/>
              <a:ext cx="1306571" cy="5234548"/>
              <a:chOff x="0" y="0"/>
              <a:chExt cx="121728" cy="487680"/>
            </a:xfrm>
          </p:grpSpPr>
          <p:sp>
            <p:nvSpPr>
              <p:cNvPr name="Freeform 31" id="31"/>
              <p:cNvSpPr/>
              <p:nvPr/>
            </p:nvSpPr>
            <p:spPr>
              <a:xfrm flipH="false" flipV="false" rot="0">
                <a:off x="0" y="0"/>
                <a:ext cx="121728" cy="487680"/>
              </a:xfrm>
              <a:custGeom>
                <a:avLst/>
                <a:gdLst/>
                <a:ahLst/>
                <a:cxnLst/>
                <a:rect r="r" b="b" t="t" l="l"/>
                <a:pathLst>
                  <a:path h="487680" w="121728">
                    <a:moveTo>
                      <a:pt x="0" y="0"/>
                    </a:moveTo>
                    <a:lnTo>
                      <a:pt x="121728" y="0"/>
                    </a:lnTo>
                    <a:lnTo>
                      <a:pt x="121728" y="487680"/>
                    </a:lnTo>
                    <a:lnTo>
                      <a:pt x="0" y="487680"/>
                    </a:lnTo>
                    <a:close/>
                  </a:path>
                </a:pathLst>
              </a:custGeom>
              <a:blipFill>
                <a:blip r:embed="rId6">
                  <a:alphaModFix amt="0"/>
                </a:blip>
                <a:stretch>
                  <a:fillRect l="-363788" t="0" r="-564263" b="0"/>
                </a:stretch>
              </a:blipFill>
            </p:spPr>
          </p:sp>
          <p:sp>
            <p:nvSpPr>
              <p:cNvPr name="TextBox 32" id="32"/>
              <p:cNvSpPr txBox="true"/>
              <p:nvPr/>
            </p:nvSpPr>
            <p:spPr>
              <a:xfrm>
                <a:off x="0" y="0"/>
                <a:ext cx="121728" cy="487680"/>
              </a:xfrm>
              <a:prstGeom prst="rect">
                <a:avLst/>
              </a:prstGeom>
            </p:spPr>
            <p:txBody>
              <a:bodyPr anchor="ctr" rtlCol="false" tIns="0" lIns="0" bIns="0" rIns="0"/>
              <a:lstStyle/>
              <a:p>
                <a:pPr algn="l">
                  <a:lnSpc>
                    <a:spcPts val="6599"/>
                  </a:lnSpc>
                </a:pPr>
                <a:r>
                  <a:rPr lang="en-US" sz="5499" b="true">
                    <a:solidFill>
                      <a:srgbClr val="6E7681"/>
                    </a:solidFill>
                    <a:latin typeface="Montserrat Bold"/>
                    <a:ea typeface="Montserrat Bold"/>
                    <a:cs typeface="Montserrat Bold"/>
                    <a:sym typeface="Montserrat Bold"/>
                  </a:rPr>
                  <a:t>›</a:t>
                </a:r>
              </a:p>
            </p:txBody>
          </p:sp>
        </p:grpSp>
        <p:grpSp>
          <p:nvGrpSpPr>
            <p:cNvPr name="Group 33" id="33"/>
            <p:cNvGrpSpPr/>
            <p:nvPr/>
          </p:nvGrpSpPr>
          <p:grpSpPr>
            <a:xfrm rot="0">
              <a:off x="11732781" y="1064108"/>
              <a:ext cx="5462269" cy="3256507"/>
              <a:chOff x="0" y="0"/>
              <a:chExt cx="2838031" cy="1691983"/>
            </a:xfrm>
          </p:grpSpPr>
          <p:sp>
            <p:nvSpPr>
              <p:cNvPr name="Freeform 34" id="34"/>
              <p:cNvSpPr/>
              <p:nvPr/>
            </p:nvSpPr>
            <p:spPr>
              <a:xfrm flipH="false" flipV="false" rot="0">
                <a:off x="16891" y="16891"/>
                <a:ext cx="2804160" cy="1658112"/>
              </a:xfrm>
              <a:custGeom>
                <a:avLst/>
                <a:gdLst/>
                <a:ahLst/>
                <a:cxnLst/>
                <a:rect r="r" b="b" t="t" l="l"/>
                <a:pathLst>
                  <a:path h="1658112" w="2804160">
                    <a:moveTo>
                      <a:pt x="0" y="0"/>
                    </a:moveTo>
                    <a:lnTo>
                      <a:pt x="2804160" y="0"/>
                    </a:lnTo>
                    <a:lnTo>
                      <a:pt x="2804160" y="1658112"/>
                    </a:lnTo>
                    <a:lnTo>
                      <a:pt x="0" y="1658112"/>
                    </a:lnTo>
                    <a:close/>
                  </a:path>
                </a:pathLst>
              </a:custGeom>
              <a:solidFill>
                <a:srgbClr val="161B22"/>
              </a:solidFill>
            </p:spPr>
          </p:sp>
          <p:sp>
            <p:nvSpPr>
              <p:cNvPr name="Freeform 35" id="35"/>
              <p:cNvSpPr/>
              <p:nvPr/>
            </p:nvSpPr>
            <p:spPr>
              <a:xfrm flipH="false" flipV="false" rot="0">
                <a:off x="0" y="0"/>
                <a:ext cx="2837942" cy="1691894"/>
              </a:xfrm>
              <a:custGeom>
                <a:avLst/>
                <a:gdLst/>
                <a:ahLst/>
                <a:cxnLst/>
                <a:rect r="r" b="b" t="t" l="l"/>
                <a:pathLst>
                  <a:path h="1691894" w="2837942">
                    <a:moveTo>
                      <a:pt x="16891" y="0"/>
                    </a:moveTo>
                    <a:lnTo>
                      <a:pt x="2821051" y="0"/>
                    </a:lnTo>
                    <a:cubicBezTo>
                      <a:pt x="2830449" y="0"/>
                      <a:pt x="2837942" y="7620"/>
                      <a:pt x="2837942" y="16891"/>
                    </a:cubicBezTo>
                    <a:lnTo>
                      <a:pt x="2837942" y="1675003"/>
                    </a:lnTo>
                    <a:cubicBezTo>
                      <a:pt x="2837942" y="1684401"/>
                      <a:pt x="2830322" y="1691894"/>
                      <a:pt x="282105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821051" y="1658112"/>
                    </a:lnTo>
                    <a:lnTo>
                      <a:pt x="2821051" y="1675003"/>
                    </a:lnTo>
                    <a:lnTo>
                      <a:pt x="2804160" y="1675003"/>
                    </a:lnTo>
                    <a:lnTo>
                      <a:pt x="2804160" y="16891"/>
                    </a:lnTo>
                    <a:lnTo>
                      <a:pt x="2821051" y="16891"/>
                    </a:lnTo>
                    <a:lnTo>
                      <a:pt x="2821051" y="33909"/>
                    </a:lnTo>
                    <a:lnTo>
                      <a:pt x="16891" y="33909"/>
                    </a:lnTo>
                    <a:close/>
                  </a:path>
                </a:pathLst>
              </a:custGeom>
              <a:solidFill>
                <a:srgbClr val="378ADD"/>
              </a:solidFill>
            </p:spPr>
          </p:sp>
        </p:grpSp>
        <p:grpSp>
          <p:nvGrpSpPr>
            <p:cNvPr name="Group 36" id="36"/>
            <p:cNvGrpSpPr/>
            <p:nvPr/>
          </p:nvGrpSpPr>
          <p:grpSpPr>
            <a:xfrm rot="0">
              <a:off x="11732781" y="1064108"/>
              <a:ext cx="5462269" cy="628364"/>
              <a:chOff x="0" y="0"/>
              <a:chExt cx="2838031" cy="326479"/>
            </a:xfrm>
          </p:grpSpPr>
          <p:sp>
            <p:nvSpPr>
              <p:cNvPr name="Freeform 37" id="37"/>
              <p:cNvSpPr/>
              <p:nvPr/>
            </p:nvSpPr>
            <p:spPr>
              <a:xfrm flipH="false" flipV="false" rot="0">
                <a:off x="16891" y="16891"/>
                <a:ext cx="2804160" cy="292608"/>
              </a:xfrm>
              <a:custGeom>
                <a:avLst/>
                <a:gdLst/>
                <a:ahLst/>
                <a:cxnLst/>
                <a:rect r="r" b="b" t="t" l="l"/>
                <a:pathLst>
                  <a:path h="292608" w="2804160">
                    <a:moveTo>
                      <a:pt x="0" y="0"/>
                    </a:moveTo>
                    <a:lnTo>
                      <a:pt x="2804160" y="0"/>
                    </a:lnTo>
                    <a:lnTo>
                      <a:pt x="2804160" y="292608"/>
                    </a:lnTo>
                    <a:lnTo>
                      <a:pt x="0" y="292608"/>
                    </a:lnTo>
                    <a:close/>
                  </a:path>
                </a:pathLst>
              </a:custGeom>
              <a:solidFill>
                <a:srgbClr val="378ADD"/>
              </a:solidFill>
            </p:spPr>
          </p:sp>
          <p:sp>
            <p:nvSpPr>
              <p:cNvPr name="Freeform 38" id="38"/>
              <p:cNvSpPr/>
              <p:nvPr/>
            </p:nvSpPr>
            <p:spPr>
              <a:xfrm flipH="false" flipV="false" rot="0">
                <a:off x="0" y="0"/>
                <a:ext cx="2837942" cy="326392"/>
              </a:xfrm>
              <a:custGeom>
                <a:avLst/>
                <a:gdLst/>
                <a:ahLst/>
                <a:cxnLst/>
                <a:rect r="r" b="b" t="t" l="l"/>
                <a:pathLst>
                  <a:path h="326392" w="2837942">
                    <a:moveTo>
                      <a:pt x="16891" y="0"/>
                    </a:moveTo>
                    <a:lnTo>
                      <a:pt x="2821051" y="0"/>
                    </a:lnTo>
                    <a:cubicBezTo>
                      <a:pt x="2830449" y="0"/>
                      <a:pt x="2837942" y="7620"/>
                      <a:pt x="2837942" y="16891"/>
                    </a:cubicBezTo>
                    <a:lnTo>
                      <a:pt x="2837942" y="309499"/>
                    </a:lnTo>
                    <a:cubicBezTo>
                      <a:pt x="2837942" y="318897"/>
                      <a:pt x="2830322" y="326390"/>
                      <a:pt x="2821051" y="326390"/>
                    </a:cubicBezTo>
                    <a:lnTo>
                      <a:pt x="16891" y="326390"/>
                    </a:lnTo>
                    <a:cubicBezTo>
                      <a:pt x="7620" y="326517"/>
                      <a:pt x="0" y="318897"/>
                      <a:pt x="0" y="309499"/>
                    </a:cubicBezTo>
                    <a:lnTo>
                      <a:pt x="0" y="16891"/>
                    </a:lnTo>
                    <a:cubicBezTo>
                      <a:pt x="0" y="7620"/>
                      <a:pt x="7620" y="0"/>
                      <a:pt x="16891" y="0"/>
                    </a:cubicBezTo>
                    <a:moveTo>
                      <a:pt x="16891" y="33909"/>
                    </a:moveTo>
                    <a:lnTo>
                      <a:pt x="16891" y="16891"/>
                    </a:lnTo>
                    <a:lnTo>
                      <a:pt x="33909" y="16891"/>
                    </a:lnTo>
                    <a:lnTo>
                      <a:pt x="33909" y="309499"/>
                    </a:lnTo>
                    <a:lnTo>
                      <a:pt x="16891" y="309499"/>
                    </a:lnTo>
                    <a:lnTo>
                      <a:pt x="16891" y="292608"/>
                    </a:lnTo>
                    <a:lnTo>
                      <a:pt x="2821051" y="292608"/>
                    </a:lnTo>
                    <a:lnTo>
                      <a:pt x="2821051" y="309499"/>
                    </a:lnTo>
                    <a:lnTo>
                      <a:pt x="2804160" y="309499"/>
                    </a:lnTo>
                    <a:lnTo>
                      <a:pt x="2804160" y="16891"/>
                    </a:lnTo>
                    <a:lnTo>
                      <a:pt x="2821051" y="16891"/>
                    </a:lnTo>
                    <a:lnTo>
                      <a:pt x="2821051" y="33909"/>
                    </a:lnTo>
                    <a:lnTo>
                      <a:pt x="16891" y="33909"/>
                    </a:lnTo>
                    <a:close/>
                  </a:path>
                </a:pathLst>
              </a:custGeom>
              <a:solidFill>
                <a:srgbClr val="378ADD"/>
              </a:solidFill>
            </p:spPr>
          </p:sp>
        </p:grpSp>
        <p:grpSp>
          <p:nvGrpSpPr>
            <p:cNvPr name="Group 39" id="39"/>
            <p:cNvGrpSpPr/>
            <p:nvPr/>
          </p:nvGrpSpPr>
          <p:grpSpPr>
            <a:xfrm rot="0">
              <a:off x="12000019" y="1800658"/>
              <a:ext cx="4927768" cy="2346556"/>
              <a:chOff x="0" y="0"/>
              <a:chExt cx="2560320" cy="1219200"/>
            </a:xfrm>
          </p:grpSpPr>
          <p:sp>
            <p:nvSpPr>
              <p:cNvPr name="Freeform 40" id="40"/>
              <p:cNvSpPr/>
              <p:nvPr/>
            </p:nvSpPr>
            <p:spPr>
              <a:xfrm flipH="false" flipV="false" rot="0">
                <a:off x="0" y="0"/>
                <a:ext cx="2560320" cy="1219200"/>
              </a:xfrm>
              <a:custGeom>
                <a:avLst/>
                <a:gdLst/>
                <a:ahLst/>
                <a:cxnLst/>
                <a:rect r="r" b="b" t="t" l="l"/>
                <a:pathLst>
                  <a:path h="1219200" w="2560320">
                    <a:moveTo>
                      <a:pt x="0" y="0"/>
                    </a:moveTo>
                    <a:lnTo>
                      <a:pt x="2560320" y="0"/>
                    </a:lnTo>
                    <a:lnTo>
                      <a:pt x="2560320" y="1219200"/>
                    </a:lnTo>
                    <a:lnTo>
                      <a:pt x="0" y="1219200"/>
                    </a:lnTo>
                    <a:close/>
                  </a:path>
                </a:pathLst>
              </a:custGeom>
              <a:blipFill>
                <a:blip r:embed="rId6">
                  <a:alphaModFix amt="0"/>
                </a:blip>
                <a:stretch>
                  <a:fillRect l="-11096" t="0" r="-11096" b="0"/>
                </a:stretch>
              </a:blipFill>
            </p:spPr>
          </p:sp>
          <p:sp>
            <p:nvSpPr>
              <p:cNvPr name="TextBox 41" id="41"/>
              <p:cNvSpPr txBox="true"/>
              <p:nvPr/>
            </p:nvSpPr>
            <p:spPr>
              <a:xfrm>
                <a:off x="0" y="0"/>
                <a:ext cx="2560320" cy="1219200"/>
              </a:xfrm>
              <a:prstGeom prst="rect">
                <a:avLst/>
              </a:prstGeom>
            </p:spPr>
            <p:txBody>
              <a:bodyPr anchor="ctr" rtlCol="false" tIns="0" lIns="0" bIns="0" rIns="0"/>
              <a:lstStyle/>
              <a:p>
                <a:pPr algn="ctr">
                  <a:lnSpc>
                    <a:spcPts val="2640"/>
                  </a:lnSpc>
                </a:pPr>
                <a:r>
                  <a:rPr lang="en-US" sz="2200" b="true">
                    <a:solidFill>
                      <a:srgbClr val="F0F0F0"/>
                    </a:solidFill>
                    <a:latin typeface="Montserrat Bold"/>
                    <a:ea typeface="Montserrat Bold"/>
                    <a:cs typeface="Montserrat Bold"/>
                    <a:sym typeface="Montserrat Bold"/>
                  </a:rPr>
                  <a:t>Staging</a:t>
                </a:r>
              </a:p>
              <a:p>
                <a:pPr algn="ctr">
                  <a:lnSpc>
                    <a:spcPts val="2640"/>
                  </a:lnSpc>
                </a:pPr>
                <a:r>
                  <a:rPr lang="en-US" sz="2200" b="true">
                    <a:solidFill>
                      <a:srgbClr val="F0F0F0"/>
                    </a:solidFill>
                    <a:latin typeface="Montserrat Bold"/>
                    <a:ea typeface="Montserrat Bold"/>
                    <a:cs typeface="Montserrat Bold"/>
                    <a:sym typeface="Montserrat Bold"/>
                  </a:rPr>
                  <a:t>env test</a:t>
                </a:r>
              </a:p>
            </p:txBody>
          </p:sp>
        </p:grpSp>
        <p:grpSp>
          <p:nvGrpSpPr>
            <p:cNvPr name="Group 42" id="42"/>
            <p:cNvGrpSpPr/>
            <p:nvPr/>
          </p:nvGrpSpPr>
          <p:grpSpPr>
            <a:xfrm rot="0">
              <a:off x="17129860" y="2659766"/>
              <a:ext cx="534501" cy="65190"/>
              <a:chOff x="0" y="0"/>
              <a:chExt cx="277711" cy="33871"/>
            </a:xfrm>
          </p:grpSpPr>
          <p:sp>
            <p:nvSpPr>
              <p:cNvPr name="Freeform 43" id="43"/>
              <p:cNvSpPr/>
              <p:nvPr/>
            </p:nvSpPr>
            <p:spPr>
              <a:xfrm flipH="false" flipV="false" rot="0">
                <a:off x="16891" y="0"/>
                <a:ext cx="243840" cy="33909"/>
              </a:xfrm>
              <a:custGeom>
                <a:avLst/>
                <a:gdLst/>
                <a:ahLst/>
                <a:cxnLst/>
                <a:rect r="r" b="b" t="t" l="l"/>
                <a:pathLst>
                  <a:path h="33909" w="243840">
                    <a:moveTo>
                      <a:pt x="0" y="0"/>
                    </a:moveTo>
                    <a:lnTo>
                      <a:pt x="243840" y="0"/>
                    </a:lnTo>
                    <a:lnTo>
                      <a:pt x="243840" y="33909"/>
                    </a:lnTo>
                    <a:lnTo>
                      <a:pt x="0" y="33909"/>
                    </a:lnTo>
                    <a:close/>
                  </a:path>
                </a:pathLst>
              </a:custGeom>
              <a:solidFill>
                <a:srgbClr val="6E7681"/>
              </a:solidFill>
            </p:spPr>
          </p:sp>
        </p:grpSp>
        <p:grpSp>
          <p:nvGrpSpPr>
            <p:cNvPr name="Group 44" id="44"/>
            <p:cNvGrpSpPr/>
            <p:nvPr/>
          </p:nvGrpSpPr>
          <p:grpSpPr>
            <a:xfrm rot="0">
              <a:off x="17219494" y="0"/>
              <a:ext cx="2304048" cy="5319533"/>
              <a:chOff x="0" y="0"/>
              <a:chExt cx="211229" cy="487680"/>
            </a:xfrm>
          </p:grpSpPr>
          <p:sp>
            <p:nvSpPr>
              <p:cNvPr name="Freeform 45" id="45"/>
              <p:cNvSpPr/>
              <p:nvPr/>
            </p:nvSpPr>
            <p:spPr>
              <a:xfrm flipH="false" flipV="false" rot="0">
                <a:off x="0" y="0"/>
                <a:ext cx="211229" cy="487680"/>
              </a:xfrm>
              <a:custGeom>
                <a:avLst/>
                <a:gdLst/>
                <a:ahLst/>
                <a:cxnLst/>
                <a:rect r="r" b="b" t="t" l="l"/>
                <a:pathLst>
                  <a:path h="487680" w="211229">
                    <a:moveTo>
                      <a:pt x="0" y="0"/>
                    </a:moveTo>
                    <a:lnTo>
                      <a:pt x="211229" y="0"/>
                    </a:lnTo>
                    <a:lnTo>
                      <a:pt x="211229" y="487680"/>
                    </a:lnTo>
                    <a:lnTo>
                      <a:pt x="0" y="487680"/>
                    </a:lnTo>
                    <a:close/>
                  </a:path>
                </a:pathLst>
              </a:custGeom>
              <a:blipFill>
                <a:blip r:embed="rId6">
                  <a:alphaModFix amt="0"/>
                </a:blip>
                <a:stretch>
                  <a:fillRect l="-209645" t="0" r="-282803" b="0"/>
                </a:stretch>
              </a:blipFill>
            </p:spPr>
          </p:sp>
          <p:sp>
            <p:nvSpPr>
              <p:cNvPr name="TextBox 46" id="46"/>
              <p:cNvSpPr txBox="true"/>
              <p:nvPr/>
            </p:nvSpPr>
            <p:spPr>
              <a:xfrm>
                <a:off x="0" y="0"/>
                <a:ext cx="211229" cy="487680"/>
              </a:xfrm>
              <a:prstGeom prst="rect">
                <a:avLst/>
              </a:prstGeom>
            </p:spPr>
            <p:txBody>
              <a:bodyPr anchor="ctr" rtlCol="false" tIns="0" lIns="0" bIns="0" rIns="0"/>
              <a:lstStyle/>
              <a:p>
                <a:pPr algn="l">
                  <a:lnSpc>
                    <a:spcPts val="6599"/>
                  </a:lnSpc>
                </a:pPr>
                <a:r>
                  <a:rPr lang="en-US" sz="5499" b="true">
                    <a:solidFill>
                      <a:srgbClr val="6E7681"/>
                    </a:solidFill>
                    <a:latin typeface="Montserrat Bold"/>
                    <a:ea typeface="Montserrat Bold"/>
                    <a:cs typeface="Montserrat Bold"/>
                    <a:sym typeface="Montserrat Bold"/>
                  </a:rPr>
                  <a:t>›</a:t>
                </a:r>
              </a:p>
            </p:txBody>
          </p:sp>
        </p:grpSp>
        <p:grpSp>
          <p:nvGrpSpPr>
            <p:cNvPr name="Group 47" id="47"/>
            <p:cNvGrpSpPr/>
            <p:nvPr/>
          </p:nvGrpSpPr>
          <p:grpSpPr>
            <a:xfrm rot="0">
              <a:off x="17599171" y="1064108"/>
              <a:ext cx="5462269" cy="3256507"/>
              <a:chOff x="0" y="0"/>
              <a:chExt cx="2838031" cy="1691983"/>
            </a:xfrm>
          </p:grpSpPr>
          <p:sp>
            <p:nvSpPr>
              <p:cNvPr name="Freeform 48" id="48"/>
              <p:cNvSpPr/>
              <p:nvPr/>
            </p:nvSpPr>
            <p:spPr>
              <a:xfrm flipH="false" flipV="false" rot="0">
                <a:off x="16891" y="16891"/>
                <a:ext cx="2804160" cy="1658112"/>
              </a:xfrm>
              <a:custGeom>
                <a:avLst/>
                <a:gdLst/>
                <a:ahLst/>
                <a:cxnLst/>
                <a:rect r="r" b="b" t="t" l="l"/>
                <a:pathLst>
                  <a:path h="1658112" w="2804160">
                    <a:moveTo>
                      <a:pt x="0" y="0"/>
                    </a:moveTo>
                    <a:lnTo>
                      <a:pt x="2804160" y="0"/>
                    </a:lnTo>
                    <a:lnTo>
                      <a:pt x="2804160" y="1658112"/>
                    </a:lnTo>
                    <a:lnTo>
                      <a:pt x="0" y="1658112"/>
                    </a:lnTo>
                    <a:close/>
                  </a:path>
                </a:pathLst>
              </a:custGeom>
              <a:solidFill>
                <a:srgbClr val="161B22"/>
              </a:solidFill>
            </p:spPr>
          </p:sp>
          <p:sp>
            <p:nvSpPr>
              <p:cNvPr name="Freeform 49" id="49"/>
              <p:cNvSpPr/>
              <p:nvPr/>
            </p:nvSpPr>
            <p:spPr>
              <a:xfrm flipH="false" flipV="false" rot="0">
                <a:off x="0" y="0"/>
                <a:ext cx="2837942" cy="1691894"/>
              </a:xfrm>
              <a:custGeom>
                <a:avLst/>
                <a:gdLst/>
                <a:ahLst/>
                <a:cxnLst/>
                <a:rect r="r" b="b" t="t" l="l"/>
                <a:pathLst>
                  <a:path h="1691894" w="2837942">
                    <a:moveTo>
                      <a:pt x="16891" y="0"/>
                    </a:moveTo>
                    <a:lnTo>
                      <a:pt x="2821051" y="0"/>
                    </a:lnTo>
                    <a:cubicBezTo>
                      <a:pt x="2830449" y="0"/>
                      <a:pt x="2837942" y="7620"/>
                      <a:pt x="2837942" y="16891"/>
                    </a:cubicBezTo>
                    <a:lnTo>
                      <a:pt x="2837942" y="1675003"/>
                    </a:lnTo>
                    <a:cubicBezTo>
                      <a:pt x="2837942" y="1684401"/>
                      <a:pt x="2830322" y="1691894"/>
                      <a:pt x="282105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821051" y="1658112"/>
                    </a:lnTo>
                    <a:lnTo>
                      <a:pt x="2821051" y="1675003"/>
                    </a:lnTo>
                    <a:lnTo>
                      <a:pt x="2804160" y="1675003"/>
                    </a:lnTo>
                    <a:lnTo>
                      <a:pt x="2804160" y="16891"/>
                    </a:lnTo>
                    <a:lnTo>
                      <a:pt x="2821051" y="16891"/>
                    </a:lnTo>
                    <a:lnTo>
                      <a:pt x="2821051" y="33909"/>
                    </a:lnTo>
                    <a:lnTo>
                      <a:pt x="16891" y="33909"/>
                    </a:lnTo>
                    <a:close/>
                  </a:path>
                </a:pathLst>
              </a:custGeom>
              <a:solidFill>
                <a:srgbClr val="1D9E75"/>
              </a:solidFill>
            </p:spPr>
          </p:sp>
        </p:grpSp>
        <p:grpSp>
          <p:nvGrpSpPr>
            <p:cNvPr name="Group 50" id="50"/>
            <p:cNvGrpSpPr/>
            <p:nvPr/>
          </p:nvGrpSpPr>
          <p:grpSpPr>
            <a:xfrm rot="0">
              <a:off x="17599171" y="1064108"/>
              <a:ext cx="5462269" cy="628364"/>
              <a:chOff x="0" y="0"/>
              <a:chExt cx="2838031" cy="326479"/>
            </a:xfrm>
          </p:grpSpPr>
          <p:sp>
            <p:nvSpPr>
              <p:cNvPr name="Freeform 51" id="51"/>
              <p:cNvSpPr/>
              <p:nvPr/>
            </p:nvSpPr>
            <p:spPr>
              <a:xfrm flipH="false" flipV="false" rot="0">
                <a:off x="16891" y="16891"/>
                <a:ext cx="2804160" cy="292608"/>
              </a:xfrm>
              <a:custGeom>
                <a:avLst/>
                <a:gdLst/>
                <a:ahLst/>
                <a:cxnLst/>
                <a:rect r="r" b="b" t="t" l="l"/>
                <a:pathLst>
                  <a:path h="292608" w="2804160">
                    <a:moveTo>
                      <a:pt x="0" y="0"/>
                    </a:moveTo>
                    <a:lnTo>
                      <a:pt x="2804160" y="0"/>
                    </a:lnTo>
                    <a:lnTo>
                      <a:pt x="2804160" y="292608"/>
                    </a:lnTo>
                    <a:lnTo>
                      <a:pt x="0" y="292608"/>
                    </a:lnTo>
                    <a:close/>
                  </a:path>
                </a:pathLst>
              </a:custGeom>
              <a:solidFill>
                <a:srgbClr val="1D9E75"/>
              </a:solidFill>
            </p:spPr>
          </p:sp>
          <p:sp>
            <p:nvSpPr>
              <p:cNvPr name="Freeform 52" id="52"/>
              <p:cNvSpPr/>
              <p:nvPr/>
            </p:nvSpPr>
            <p:spPr>
              <a:xfrm flipH="false" flipV="false" rot="0">
                <a:off x="0" y="0"/>
                <a:ext cx="2837942" cy="326392"/>
              </a:xfrm>
              <a:custGeom>
                <a:avLst/>
                <a:gdLst/>
                <a:ahLst/>
                <a:cxnLst/>
                <a:rect r="r" b="b" t="t" l="l"/>
                <a:pathLst>
                  <a:path h="326392" w="2837942">
                    <a:moveTo>
                      <a:pt x="16891" y="0"/>
                    </a:moveTo>
                    <a:lnTo>
                      <a:pt x="2821051" y="0"/>
                    </a:lnTo>
                    <a:cubicBezTo>
                      <a:pt x="2830449" y="0"/>
                      <a:pt x="2837942" y="7620"/>
                      <a:pt x="2837942" y="16891"/>
                    </a:cubicBezTo>
                    <a:lnTo>
                      <a:pt x="2837942" y="309499"/>
                    </a:lnTo>
                    <a:cubicBezTo>
                      <a:pt x="2837942" y="318897"/>
                      <a:pt x="2830322" y="326390"/>
                      <a:pt x="2821051" y="326390"/>
                    </a:cubicBezTo>
                    <a:lnTo>
                      <a:pt x="16891" y="326390"/>
                    </a:lnTo>
                    <a:cubicBezTo>
                      <a:pt x="7620" y="326517"/>
                      <a:pt x="0" y="318897"/>
                      <a:pt x="0" y="309499"/>
                    </a:cubicBezTo>
                    <a:lnTo>
                      <a:pt x="0" y="16891"/>
                    </a:lnTo>
                    <a:cubicBezTo>
                      <a:pt x="0" y="7620"/>
                      <a:pt x="7620" y="0"/>
                      <a:pt x="16891" y="0"/>
                    </a:cubicBezTo>
                    <a:moveTo>
                      <a:pt x="16891" y="33909"/>
                    </a:moveTo>
                    <a:lnTo>
                      <a:pt x="16891" y="16891"/>
                    </a:lnTo>
                    <a:lnTo>
                      <a:pt x="33909" y="16891"/>
                    </a:lnTo>
                    <a:lnTo>
                      <a:pt x="33909" y="309499"/>
                    </a:lnTo>
                    <a:lnTo>
                      <a:pt x="16891" y="309499"/>
                    </a:lnTo>
                    <a:lnTo>
                      <a:pt x="16891" y="292608"/>
                    </a:lnTo>
                    <a:lnTo>
                      <a:pt x="2821051" y="292608"/>
                    </a:lnTo>
                    <a:lnTo>
                      <a:pt x="2821051" y="309499"/>
                    </a:lnTo>
                    <a:lnTo>
                      <a:pt x="2804160" y="309499"/>
                    </a:lnTo>
                    <a:lnTo>
                      <a:pt x="2804160" y="16891"/>
                    </a:lnTo>
                    <a:lnTo>
                      <a:pt x="2821051" y="16891"/>
                    </a:lnTo>
                    <a:lnTo>
                      <a:pt x="2821051" y="33909"/>
                    </a:lnTo>
                    <a:lnTo>
                      <a:pt x="16891" y="33909"/>
                    </a:lnTo>
                    <a:close/>
                  </a:path>
                </a:pathLst>
              </a:custGeom>
              <a:solidFill>
                <a:srgbClr val="1D9E75"/>
              </a:solidFill>
            </p:spPr>
          </p:sp>
        </p:grpSp>
        <p:grpSp>
          <p:nvGrpSpPr>
            <p:cNvPr name="Group 53" id="53"/>
            <p:cNvGrpSpPr/>
            <p:nvPr/>
          </p:nvGrpSpPr>
          <p:grpSpPr>
            <a:xfrm rot="0">
              <a:off x="17866410" y="1800658"/>
              <a:ext cx="4927768" cy="2346556"/>
              <a:chOff x="0" y="0"/>
              <a:chExt cx="2560320" cy="1219200"/>
            </a:xfrm>
          </p:grpSpPr>
          <p:sp>
            <p:nvSpPr>
              <p:cNvPr name="Freeform 54" id="54"/>
              <p:cNvSpPr/>
              <p:nvPr/>
            </p:nvSpPr>
            <p:spPr>
              <a:xfrm flipH="false" flipV="false" rot="0">
                <a:off x="0" y="0"/>
                <a:ext cx="2560320" cy="1219200"/>
              </a:xfrm>
              <a:custGeom>
                <a:avLst/>
                <a:gdLst/>
                <a:ahLst/>
                <a:cxnLst/>
                <a:rect r="r" b="b" t="t" l="l"/>
                <a:pathLst>
                  <a:path h="1219200" w="2560320">
                    <a:moveTo>
                      <a:pt x="0" y="0"/>
                    </a:moveTo>
                    <a:lnTo>
                      <a:pt x="2560320" y="0"/>
                    </a:lnTo>
                    <a:lnTo>
                      <a:pt x="2560320" y="1219200"/>
                    </a:lnTo>
                    <a:lnTo>
                      <a:pt x="0" y="1219200"/>
                    </a:lnTo>
                    <a:close/>
                  </a:path>
                </a:pathLst>
              </a:custGeom>
              <a:blipFill>
                <a:blip r:embed="rId6">
                  <a:alphaModFix amt="0"/>
                </a:blip>
                <a:stretch>
                  <a:fillRect l="-11096" t="0" r="-11096" b="0"/>
                </a:stretch>
              </a:blipFill>
            </p:spPr>
          </p:sp>
          <p:sp>
            <p:nvSpPr>
              <p:cNvPr name="TextBox 55" id="55"/>
              <p:cNvSpPr txBox="true"/>
              <p:nvPr/>
            </p:nvSpPr>
            <p:spPr>
              <a:xfrm>
                <a:off x="0" y="0"/>
                <a:ext cx="2560320" cy="1219200"/>
              </a:xfrm>
              <a:prstGeom prst="rect">
                <a:avLst/>
              </a:prstGeom>
            </p:spPr>
            <p:txBody>
              <a:bodyPr anchor="ctr" rtlCol="false" tIns="0" lIns="0" bIns="0" rIns="0"/>
              <a:lstStyle/>
              <a:p>
                <a:pPr algn="ctr">
                  <a:lnSpc>
                    <a:spcPts val="2640"/>
                  </a:lnSpc>
                </a:pPr>
                <a:r>
                  <a:rPr lang="en-US" sz="2200" b="true">
                    <a:solidFill>
                      <a:srgbClr val="F0F0F0"/>
                    </a:solidFill>
                    <a:latin typeface="Montserrat Bold"/>
                    <a:ea typeface="Montserrat Bold"/>
                    <a:cs typeface="Montserrat Bold"/>
                    <a:sym typeface="Montserrat Bold"/>
                  </a:rPr>
                  <a:t>Production</a:t>
                </a:r>
              </a:p>
              <a:p>
                <a:pPr algn="ctr">
                  <a:lnSpc>
                    <a:spcPts val="2640"/>
                  </a:lnSpc>
                </a:pPr>
                <a:r>
                  <a:rPr lang="en-US" sz="2200" b="true">
                    <a:solidFill>
                      <a:srgbClr val="F0F0F0"/>
                    </a:solidFill>
                    <a:latin typeface="Montserrat Bold"/>
                    <a:ea typeface="Montserrat Bold"/>
                    <a:cs typeface="Montserrat Bold"/>
                    <a:sym typeface="Montserrat Bold"/>
                  </a:rPr>
                  <a:t>release</a:t>
                </a:r>
              </a:p>
            </p:txBody>
          </p:sp>
        </p:grpSp>
      </p:grpSp>
      <p:grpSp>
        <p:nvGrpSpPr>
          <p:cNvPr name="Group 56" id="56"/>
          <p:cNvGrpSpPr/>
          <p:nvPr/>
        </p:nvGrpSpPr>
        <p:grpSpPr>
          <a:xfrm rot="0">
            <a:off x="75777" y="570332"/>
            <a:ext cx="18288000" cy="993138"/>
            <a:chOff x="0" y="0"/>
            <a:chExt cx="12669193" cy="688006"/>
          </a:xfrm>
        </p:grpSpPr>
        <p:sp>
          <p:nvSpPr>
            <p:cNvPr name="Freeform 57" id="57"/>
            <p:cNvSpPr/>
            <p:nvPr/>
          </p:nvSpPr>
          <p:spPr>
            <a:xfrm flipH="false" flipV="false" rot="0">
              <a:off x="0" y="0"/>
              <a:ext cx="12669193" cy="688006"/>
            </a:xfrm>
            <a:custGeom>
              <a:avLst/>
              <a:gdLst/>
              <a:ahLst/>
              <a:cxnLst/>
              <a:rect r="r" b="b" t="t" l="l"/>
              <a:pathLst>
                <a:path h="688006" w="12669193">
                  <a:moveTo>
                    <a:pt x="0" y="0"/>
                  </a:moveTo>
                  <a:lnTo>
                    <a:pt x="12669193" y="0"/>
                  </a:lnTo>
                  <a:lnTo>
                    <a:pt x="12669193" y="688006"/>
                  </a:lnTo>
                  <a:lnTo>
                    <a:pt x="0" y="688006"/>
                  </a:lnTo>
                  <a:close/>
                </a:path>
              </a:pathLst>
            </a:custGeom>
            <a:blipFill>
              <a:blip r:embed="rId6">
                <a:alphaModFix amt="0"/>
              </a:blip>
              <a:stretch>
                <a:fillRect l="0" t="-278681" r="11465" b="-256652"/>
              </a:stretch>
            </a:blipFill>
          </p:spPr>
        </p:sp>
        <p:sp>
          <p:nvSpPr>
            <p:cNvPr name="TextBox 58" id="58"/>
            <p:cNvSpPr txBox="true"/>
            <p:nvPr/>
          </p:nvSpPr>
          <p:spPr>
            <a:xfrm>
              <a:off x="0" y="9525"/>
              <a:ext cx="12669193" cy="678481"/>
            </a:xfrm>
            <a:prstGeom prst="rect">
              <a:avLst/>
            </a:prstGeom>
          </p:spPr>
          <p:txBody>
            <a:bodyPr anchor="ctr" rtlCol="false" tIns="0" lIns="0" bIns="0" rIns="0"/>
            <a:lstStyle/>
            <a:p>
              <a:pPr algn="ctr">
                <a:lnSpc>
                  <a:spcPts val="5999"/>
                </a:lnSpc>
              </a:pPr>
              <a:r>
                <a:rPr lang="en-US" b="true" sz="4999">
                  <a:solidFill>
                    <a:srgbClr val="FFFFFF"/>
                  </a:solidFill>
                  <a:latin typeface="Montserrat Bold"/>
                  <a:ea typeface="Montserrat Bold"/>
                  <a:cs typeface="Montserrat Bold"/>
                  <a:sym typeface="Montserrat Bold"/>
                </a:rPr>
                <a:t>CD Pipeline Stages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449175" y="-220557"/>
            <a:ext cx="8558066" cy="8573655"/>
          </a:xfrm>
          <a:custGeom>
            <a:avLst/>
            <a:gdLst/>
            <a:ahLst/>
            <a:cxnLst/>
            <a:rect r="r" b="b" t="t" l="l"/>
            <a:pathLst>
              <a:path h="8573655" w="8558066">
                <a:moveTo>
                  <a:pt x="0" y="8573655"/>
                </a:moveTo>
                <a:lnTo>
                  <a:pt x="8558067" y="8573655"/>
                </a:lnTo>
                <a:lnTo>
                  <a:pt x="8558067"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2020093" y="5548144"/>
            <a:ext cx="7420312" cy="7420312"/>
          </a:xfrm>
          <a:custGeom>
            <a:avLst/>
            <a:gdLst/>
            <a:ahLst/>
            <a:cxnLst/>
            <a:rect r="r" b="b" t="t" l="l"/>
            <a:pathLst>
              <a:path h="7420312" w="7420312">
                <a:moveTo>
                  <a:pt x="0" y="7420312"/>
                </a:moveTo>
                <a:lnTo>
                  <a:pt x="7420312" y="7420312"/>
                </a:lnTo>
                <a:lnTo>
                  <a:pt x="7420312" y="0"/>
                </a:lnTo>
                <a:lnTo>
                  <a:pt x="0" y="0"/>
                </a:lnTo>
                <a:lnTo>
                  <a:pt x="0" y="74203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0" y="2282299"/>
            <a:ext cx="18288000" cy="1874302"/>
          </a:xfrm>
          <a:prstGeom prst="rect">
            <a:avLst/>
          </a:prstGeom>
        </p:spPr>
        <p:txBody>
          <a:bodyPr anchor="t" rtlCol="false" tIns="0" lIns="0" bIns="0" rIns="0">
            <a:spAutoFit/>
          </a:bodyPr>
          <a:lstStyle/>
          <a:p>
            <a:pPr algn="ctr">
              <a:lnSpc>
                <a:spcPts val="3791"/>
              </a:lnSpc>
            </a:pPr>
            <a:r>
              <a:rPr lang="en-US" b="true" sz="2708" spc="5">
                <a:solidFill>
                  <a:srgbClr val="FFFFFF"/>
                </a:solidFill>
                <a:latin typeface="Open Sauce Bold"/>
                <a:ea typeface="Open Sauce Bold"/>
                <a:cs typeface="Open Sauce Bold"/>
                <a:sym typeface="Open Sauce Bold"/>
              </a:rPr>
              <a:t>Use Case:</a:t>
            </a:r>
          </a:p>
          <a:p>
            <a:pPr algn="ctr">
              <a:lnSpc>
                <a:spcPts val="3791"/>
              </a:lnSpc>
              <a:spcBef>
                <a:spcPct val="0"/>
              </a:spcBef>
            </a:pPr>
            <a:r>
              <a:rPr lang="en-US" b="true" sz="2708" spc="5">
                <a:solidFill>
                  <a:srgbClr val="FFFFFF"/>
                </a:solidFill>
                <a:latin typeface="Open Sauce Bold"/>
                <a:ea typeface="Open Sauce Bold"/>
                <a:cs typeface="Open Sauce Bold"/>
                <a:sym typeface="Open Sauce Bold"/>
              </a:rPr>
              <a:t> A company is developing and maintaining an e-commerce web application where developers continuously add new features, fix bugs, and improve performance. The DevOps toolchain automates the entire process from development to monitoring.</a:t>
            </a:r>
          </a:p>
        </p:txBody>
      </p:sp>
      <p:sp>
        <p:nvSpPr>
          <p:cNvPr name="TextBox 5" id="5"/>
          <p:cNvSpPr txBox="true"/>
          <p:nvPr/>
        </p:nvSpPr>
        <p:spPr>
          <a:xfrm rot="0">
            <a:off x="0" y="364922"/>
            <a:ext cx="18288000" cy="712470"/>
          </a:xfrm>
          <a:prstGeom prst="rect">
            <a:avLst/>
          </a:prstGeom>
        </p:spPr>
        <p:txBody>
          <a:bodyPr anchor="t" rtlCol="false" tIns="0" lIns="0" bIns="0" rIns="0">
            <a:spAutoFit/>
          </a:bodyPr>
          <a:lstStyle/>
          <a:p>
            <a:pPr algn="ctr">
              <a:lnSpc>
                <a:spcPts val="5880"/>
              </a:lnSpc>
              <a:spcBef>
                <a:spcPct val="0"/>
              </a:spcBef>
            </a:pPr>
            <a:r>
              <a:rPr lang="en-US" b="true" sz="4200" spc="8">
                <a:solidFill>
                  <a:srgbClr val="FFFFFF"/>
                </a:solidFill>
                <a:latin typeface="Open Sauce Bold"/>
                <a:ea typeface="Open Sauce Bold"/>
                <a:cs typeface="Open Sauce Bold"/>
                <a:sym typeface="Open Sauce Bold"/>
              </a:rPr>
              <a:t>Real-W</a:t>
            </a:r>
            <a:r>
              <a:rPr lang="en-US" b="true" sz="4200" spc="8">
                <a:solidFill>
                  <a:srgbClr val="FFFFFF"/>
                </a:solidFill>
                <a:latin typeface="Open Sauce Bold"/>
                <a:ea typeface="Open Sauce Bold"/>
                <a:cs typeface="Open Sauce Bold"/>
                <a:sym typeface="Open Sauce Bold"/>
              </a:rPr>
              <a:t>orld Example: DevOps Toolchain in a Web Application</a:t>
            </a:r>
          </a:p>
        </p:txBody>
      </p:sp>
      <p:sp>
        <p:nvSpPr>
          <p:cNvPr name="TextBox 6" id="6"/>
          <p:cNvSpPr txBox="true"/>
          <p:nvPr/>
        </p:nvSpPr>
        <p:spPr>
          <a:xfrm rot="0">
            <a:off x="0" y="5490994"/>
            <a:ext cx="18288000" cy="2601294"/>
          </a:xfrm>
          <a:prstGeom prst="rect">
            <a:avLst/>
          </a:prstGeom>
        </p:spPr>
        <p:txBody>
          <a:bodyPr anchor="t" rtlCol="false" tIns="0" lIns="0" bIns="0" rIns="0">
            <a:spAutoFit/>
          </a:bodyPr>
          <a:lstStyle/>
          <a:p>
            <a:pPr algn="ctr">
              <a:lnSpc>
                <a:spcPts val="4146"/>
              </a:lnSpc>
              <a:spcBef>
                <a:spcPct val="0"/>
              </a:spcBef>
            </a:pPr>
            <a:r>
              <a:rPr lang="en-US" b="true" sz="2961" spc="5">
                <a:solidFill>
                  <a:srgbClr val="FFFFFF"/>
                </a:solidFill>
                <a:latin typeface="Open Sauce Bold"/>
                <a:ea typeface="Open Sauce Bold"/>
                <a:cs typeface="Open Sauce Bold"/>
                <a:sym typeface="Open Sauce Bold"/>
              </a:rPr>
              <a:t>Developers plan work using </a:t>
            </a:r>
          </a:p>
          <a:p>
            <a:pPr algn="ctr">
              <a:lnSpc>
                <a:spcPts val="4146"/>
              </a:lnSpc>
              <a:spcBef>
                <a:spcPct val="0"/>
              </a:spcBef>
            </a:pPr>
            <a:r>
              <a:rPr lang="en-US" b="true" sz="2961" spc="5">
                <a:solidFill>
                  <a:srgbClr val="FFFFFF"/>
                </a:solidFill>
                <a:latin typeface="Open Sauce Bold"/>
                <a:ea typeface="Open Sauce Bold"/>
                <a:cs typeface="Open Sauce Bold"/>
                <a:sym typeface="Open Sauce Bold"/>
              </a:rPr>
              <a:t>Jira → write code using Git → CI tools like Jenkins build and test the code → artifacts stored in Nexus Repository → containers created with Docker → deployment managed using Kubernetes → infrastructure provisioned with Terraform → application monitored using Prometheus and Grafana.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97432" y="1710125"/>
            <a:ext cx="17093135" cy="8576875"/>
          </a:xfrm>
          <a:custGeom>
            <a:avLst/>
            <a:gdLst/>
            <a:ahLst/>
            <a:cxnLst/>
            <a:rect r="r" b="b" t="t" l="l"/>
            <a:pathLst>
              <a:path h="8576875" w="17093135">
                <a:moveTo>
                  <a:pt x="0" y="0"/>
                </a:moveTo>
                <a:lnTo>
                  <a:pt x="17093136" y="0"/>
                </a:lnTo>
                <a:lnTo>
                  <a:pt x="17093136" y="8576875"/>
                </a:lnTo>
                <a:lnTo>
                  <a:pt x="0" y="8576875"/>
                </a:lnTo>
                <a:lnTo>
                  <a:pt x="0" y="0"/>
                </a:lnTo>
                <a:close/>
              </a:path>
            </a:pathLst>
          </a:custGeom>
          <a:blipFill>
            <a:blip r:embed="rId2"/>
            <a:stretch>
              <a:fillRect l="0" t="0" r="0" b="0"/>
            </a:stretch>
          </a:blipFill>
        </p:spPr>
      </p:sp>
      <p:sp>
        <p:nvSpPr>
          <p:cNvPr name="TextBox 3" id="3"/>
          <p:cNvSpPr txBox="true"/>
          <p:nvPr/>
        </p:nvSpPr>
        <p:spPr>
          <a:xfrm rot="0">
            <a:off x="5278041" y="454326"/>
            <a:ext cx="7731919" cy="746460"/>
          </a:xfrm>
          <a:prstGeom prst="rect">
            <a:avLst/>
          </a:prstGeom>
        </p:spPr>
        <p:txBody>
          <a:bodyPr anchor="t" rtlCol="false" tIns="0" lIns="0" bIns="0" rIns="0">
            <a:spAutoFit/>
          </a:bodyPr>
          <a:lstStyle/>
          <a:p>
            <a:pPr algn="ctr">
              <a:lnSpc>
                <a:spcPts val="6106"/>
              </a:lnSpc>
              <a:spcBef>
                <a:spcPct val="0"/>
              </a:spcBef>
            </a:pPr>
            <a:r>
              <a:rPr lang="en-US" b="true" sz="4361" spc="8">
                <a:solidFill>
                  <a:srgbClr val="FFFFFF"/>
                </a:solidFill>
                <a:latin typeface="Open Sauce Bold"/>
                <a:ea typeface="Open Sauce Bold"/>
                <a:cs typeface="Open Sauce Bold"/>
                <a:sym typeface="Open Sauce Bold"/>
              </a:rPr>
              <a:t>DevOps Toolchain LifeCycle</a:t>
            </a:r>
          </a:p>
        </p:txBody>
      </p:sp>
      <p:sp>
        <p:nvSpPr>
          <p:cNvPr name="Freeform 4" id="4"/>
          <p:cNvSpPr/>
          <p:nvPr/>
        </p:nvSpPr>
        <p:spPr>
          <a:xfrm flipH="false" flipV="true" rot="0">
            <a:off x="14262786" y="-3170105"/>
            <a:ext cx="7420312" cy="7420312"/>
          </a:xfrm>
          <a:custGeom>
            <a:avLst/>
            <a:gdLst/>
            <a:ahLst/>
            <a:cxnLst/>
            <a:rect r="r" b="b" t="t" l="l"/>
            <a:pathLst>
              <a:path h="7420312" w="7420312">
                <a:moveTo>
                  <a:pt x="0" y="7420312"/>
                </a:moveTo>
                <a:lnTo>
                  <a:pt x="7420311" y="7420312"/>
                </a:lnTo>
                <a:lnTo>
                  <a:pt x="7420311" y="0"/>
                </a:lnTo>
                <a:lnTo>
                  <a:pt x="0" y="0"/>
                </a:lnTo>
                <a:lnTo>
                  <a:pt x="0" y="742031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5400000">
            <a:off x="-1452249" y="-217482"/>
            <a:ext cx="5182466" cy="5191906"/>
          </a:xfrm>
          <a:custGeom>
            <a:avLst/>
            <a:gdLst/>
            <a:ahLst/>
            <a:cxnLst/>
            <a:rect r="r" b="b" t="t" l="l"/>
            <a:pathLst>
              <a:path h="5191906" w="5182466">
                <a:moveTo>
                  <a:pt x="0" y="5191905"/>
                </a:moveTo>
                <a:lnTo>
                  <a:pt x="5182466" y="5191905"/>
                </a:lnTo>
                <a:lnTo>
                  <a:pt x="5182466" y="0"/>
                </a:lnTo>
                <a:lnTo>
                  <a:pt x="0" y="0"/>
                </a:lnTo>
                <a:lnTo>
                  <a:pt x="0" y="5191905"/>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3685375" y="6903772"/>
            <a:ext cx="7420312" cy="7420312"/>
          </a:xfrm>
          <a:custGeom>
            <a:avLst/>
            <a:gdLst/>
            <a:ahLst/>
            <a:cxnLst/>
            <a:rect r="r" b="b" t="t" l="l"/>
            <a:pathLst>
              <a:path h="7420312" w="7420312">
                <a:moveTo>
                  <a:pt x="0" y="7420311"/>
                </a:moveTo>
                <a:lnTo>
                  <a:pt x="7420312" y="7420311"/>
                </a:lnTo>
                <a:lnTo>
                  <a:pt x="7420312" y="0"/>
                </a:lnTo>
                <a:lnTo>
                  <a:pt x="0" y="0"/>
                </a:lnTo>
                <a:lnTo>
                  <a:pt x="0" y="742031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true" rot="-5400000">
            <a:off x="15696767" y="7472767"/>
            <a:ext cx="5182466" cy="5191906"/>
          </a:xfrm>
          <a:custGeom>
            <a:avLst/>
            <a:gdLst/>
            <a:ahLst/>
            <a:cxnLst/>
            <a:rect r="r" b="b" t="t" l="l"/>
            <a:pathLst>
              <a:path h="5191906" w="5182466">
                <a:moveTo>
                  <a:pt x="0" y="5191906"/>
                </a:moveTo>
                <a:lnTo>
                  <a:pt x="5182466" y="5191906"/>
                </a:lnTo>
                <a:lnTo>
                  <a:pt x="5182466" y="0"/>
                </a:lnTo>
                <a:lnTo>
                  <a:pt x="0" y="0"/>
                </a:lnTo>
                <a:lnTo>
                  <a:pt x="0" y="5191906"/>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264831" y="-4292"/>
            <a:ext cx="5758339" cy="1038225"/>
          </a:xfrm>
          <a:prstGeom prst="rect">
            <a:avLst/>
          </a:prstGeom>
        </p:spPr>
        <p:txBody>
          <a:bodyPr anchor="t" rtlCol="false" tIns="0" lIns="0" bIns="0" rIns="0">
            <a:spAutoFit/>
          </a:bodyPr>
          <a:lstStyle/>
          <a:p>
            <a:pPr algn="ctr">
              <a:lnSpc>
                <a:spcPts val="8400"/>
              </a:lnSpc>
              <a:spcBef>
                <a:spcPct val="0"/>
              </a:spcBef>
            </a:pPr>
            <a:r>
              <a:rPr lang="en-US" b="true" sz="6000" spc="12">
                <a:solidFill>
                  <a:srgbClr val="FFFFFF"/>
                </a:solidFill>
                <a:latin typeface="Open Sauce Bold"/>
                <a:ea typeface="Open Sauce Bold"/>
                <a:cs typeface="Open Sauce Bold"/>
                <a:sym typeface="Open Sauce Bold"/>
              </a:rPr>
              <a:t>References</a:t>
            </a:r>
          </a:p>
        </p:txBody>
      </p:sp>
      <p:grpSp>
        <p:nvGrpSpPr>
          <p:cNvPr name="Group 3" id="3"/>
          <p:cNvGrpSpPr/>
          <p:nvPr/>
        </p:nvGrpSpPr>
        <p:grpSpPr>
          <a:xfrm rot="0">
            <a:off x="0" y="1503661"/>
            <a:ext cx="18288000" cy="9043517"/>
            <a:chOff x="0" y="0"/>
            <a:chExt cx="24384000" cy="12058022"/>
          </a:xfrm>
        </p:grpSpPr>
        <p:sp>
          <p:nvSpPr>
            <p:cNvPr name="Freeform 4" id="4"/>
            <p:cNvSpPr/>
            <p:nvPr/>
          </p:nvSpPr>
          <p:spPr>
            <a:xfrm flipH="false" flipV="false" rot="-5400000">
              <a:off x="7257558" y="-5068419"/>
              <a:ext cx="9868883" cy="24384000"/>
            </a:xfrm>
            <a:custGeom>
              <a:avLst/>
              <a:gdLst/>
              <a:ahLst/>
              <a:cxnLst/>
              <a:rect r="r" b="b" t="t" l="l"/>
              <a:pathLst>
                <a:path h="24384000" w="9868883">
                  <a:moveTo>
                    <a:pt x="0" y="0"/>
                  </a:moveTo>
                  <a:lnTo>
                    <a:pt x="9868884" y="0"/>
                  </a:lnTo>
                  <a:lnTo>
                    <a:pt x="9868884" y="24384000"/>
                  </a:lnTo>
                  <a:lnTo>
                    <a:pt x="0" y="24384000"/>
                  </a:lnTo>
                  <a:lnTo>
                    <a:pt x="0" y="0"/>
                  </a:lnTo>
                  <a:close/>
                </a:path>
              </a:pathLst>
            </a:custGeom>
            <a:blipFill>
              <a:blip r:embed="rId2">
                <a:extLst>
                  <a:ext uri="{96DAC541-7B7A-43D3-8B79-37D633B846F1}">
                    <asvg:svgBlip xmlns:asvg="http://schemas.microsoft.com/office/drawing/2016/SVG/main" r:embed="rId3"/>
                  </a:ext>
                </a:extLst>
              </a:blip>
              <a:stretch>
                <a:fillRect l="-37016" t="0" r="0" b="0"/>
              </a:stretch>
            </a:blipFill>
          </p:spPr>
        </p:sp>
        <p:sp>
          <p:nvSpPr>
            <p:cNvPr name="TextBox 5" id="5"/>
            <p:cNvSpPr txBox="true"/>
            <p:nvPr/>
          </p:nvSpPr>
          <p:spPr>
            <a:xfrm rot="0">
              <a:off x="4675928" y="797344"/>
              <a:ext cx="18336472" cy="547158"/>
            </a:xfrm>
            <a:prstGeom prst="rect">
              <a:avLst/>
            </a:prstGeom>
          </p:spPr>
          <p:txBody>
            <a:bodyPr anchor="t" rtlCol="false" tIns="0" lIns="0" bIns="0" rIns="0">
              <a:spAutoFit/>
            </a:bodyPr>
            <a:lstStyle/>
            <a:p>
              <a:pPr algn="ctr">
                <a:lnSpc>
                  <a:spcPts val="3499"/>
                </a:lnSpc>
                <a:spcBef>
                  <a:spcPct val="0"/>
                </a:spcBef>
              </a:pPr>
              <a:r>
                <a:rPr lang="en-US" b="true" sz="2499" spc="4" u="sng">
                  <a:solidFill>
                    <a:srgbClr val="FFFFFF"/>
                  </a:solidFill>
                  <a:latin typeface="Open Sauce Bold"/>
                  <a:ea typeface="Open Sauce Bold"/>
                  <a:cs typeface="Open Sauce Bold"/>
                  <a:sym typeface="Open Sauce Bold"/>
                  <a:hlinkClick r:id="rId4" tooltip="https://www.xmatters.com/blog/what-is-a-devops-toolchain-and-how-does-it-work"/>
                </a:rPr>
                <a:t>https://www.xmatters.com/blog/what-is-a-devops-toolchain-and-how-does-it-work</a:t>
              </a:r>
            </a:p>
          </p:txBody>
        </p:sp>
        <p:sp>
          <p:nvSpPr>
            <p:cNvPr name="TextBox 6" id="6"/>
            <p:cNvSpPr txBox="true"/>
            <p:nvPr/>
          </p:nvSpPr>
          <p:spPr>
            <a:xfrm rot="0">
              <a:off x="3794944" y="4850674"/>
              <a:ext cx="7827956" cy="632022"/>
            </a:xfrm>
            <a:prstGeom prst="rect">
              <a:avLst/>
            </a:prstGeom>
          </p:spPr>
          <p:txBody>
            <a:bodyPr anchor="t" rtlCol="false" tIns="0" lIns="0" bIns="0" rIns="0">
              <a:spAutoFit/>
            </a:bodyPr>
            <a:lstStyle/>
            <a:p>
              <a:pPr algn="l" marL="604334" indent="-302167" lvl="1">
                <a:lnSpc>
                  <a:spcPts val="3918"/>
                </a:lnSpc>
                <a:spcBef>
                  <a:spcPct val="0"/>
                </a:spcBef>
                <a:buAutoNum type="arabicPeriod" startAt="1"/>
              </a:pPr>
              <a:r>
                <a:rPr lang="en-US" b="true" sz="2799" spc="5">
                  <a:solidFill>
                    <a:srgbClr val="FFFFFF"/>
                  </a:solidFill>
                  <a:latin typeface="Open Sauce Bold"/>
                  <a:ea typeface="Open Sauce Bold"/>
                  <a:cs typeface="Open Sauce Bold"/>
                  <a:sym typeface="Open Sauce Bold"/>
                </a:rPr>
                <a:t> DevOps Tools Overview</a:t>
              </a:r>
            </a:p>
          </p:txBody>
        </p:sp>
        <p:sp>
          <p:nvSpPr>
            <p:cNvPr name="TextBox 7" id="7"/>
            <p:cNvSpPr txBox="true"/>
            <p:nvPr/>
          </p:nvSpPr>
          <p:spPr>
            <a:xfrm rot="0">
              <a:off x="3794944" y="739972"/>
              <a:ext cx="974407" cy="642854"/>
            </a:xfrm>
            <a:prstGeom prst="rect">
              <a:avLst/>
            </a:prstGeom>
          </p:spPr>
          <p:txBody>
            <a:bodyPr anchor="t" rtlCol="false" tIns="0" lIns="0" bIns="0" rIns="0">
              <a:spAutoFit/>
            </a:bodyPr>
            <a:lstStyle/>
            <a:p>
              <a:pPr algn="ctr">
                <a:lnSpc>
                  <a:spcPts val="4006"/>
                </a:lnSpc>
                <a:spcBef>
                  <a:spcPct val="0"/>
                </a:spcBef>
              </a:pPr>
              <a:r>
                <a:rPr lang="en-US" b="true" sz="2861" spc="5">
                  <a:solidFill>
                    <a:srgbClr val="FFFFFF"/>
                  </a:solidFill>
                  <a:latin typeface="Open Sauce Bold"/>
                  <a:ea typeface="Open Sauce Bold"/>
                  <a:cs typeface="Open Sauce Bold"/>
                  <a:sym typeface="Open Sauce Bold"/>
                </a:rPr>
                <a:t>link:</a:t>
              </a:r>
            </a:p>
          </p:txBody>
        </p:sp>
        <p:sp>
          <p:nvSpPr>
            <p:cNvPr name="TextBox 8" id="8"/>
            <p:cNvSpPr txBox="true"/>
            <p:nvPr/>
          </p:nvSpPr>
          <p:spPr>
            <a:xfrm rot="0">
              <a:off x="3794944" y="6493849"/>
              <a:ext cx="16362712" cy="3766832"/>
            </a:xfrm>
            <a:prstGeom prst="rect">
              <a:avLst/>
            </a:prstGeom>
          </p:spPr>
          <p:txBody>
            <a:bodyPr anchor="t" rtlCol="false" tIns="0" lIns="0" bIns="0" rIns="0">
              <a:spAutoFit/>
            </a:bodyPr>
            <a:lstStyle/>
            <a:p>
              <a:pPr algn="l">
                <a:lnSpc>
                  <a:spcPts val="3753"/>
                </a:lnSpc>
              </a:pPr>
              <a:r>
                <a:rPr lang="en-US" sz="2680" spc="5" b="true">
                  <a:solidFill>
                    <a:srgbClr val="FFFFFF"/>
                  </a:solidFill>
                  <a:latin typeface="Open Sauce Bold"/>
                  <a:ea typeface="Open Sauce Bold"/>
                  <a:cs typeface="Open Sauce Bold"/>
                  <a:sym typeface="Open Sauce Bold"/>
                </a:rPr>
                <a:t>Used for:</a:t>
              </a:r>
            </a:p>
            <a:p>
              <a:pPr algn="l">
                <a:lnSpc>
                  <a:spcPts val="3753"/>
                </a:lnSpc>
                <a:spcBef>
                  <a:spcPct val="0"/>
                </a:spcBef>
              </a:pPr>
              <a:r>
                <a:rPr lang="en-US" b="true" sz="2680" spc="5">
                  <a:solidFill>
                    <a:srgbClr val="FFFFFF"/>
                  </a:solidFill>
                  <a:latin typeface="Open Sauce Bold"/>
                  <a:ea typeface="Open Sauce Bold"/>
                  <a:cs typeface="Open Sauce Bold"/>
                  <a:sym typeface="Open Sauce Bold"/>
                </a:rPr>
                <a:t> Understanding different t</a:t>
              </a:r>
              <a:r>
                <a:rPr lang="en-US" b="true" sz="2680" spc="5">
                  <a:solidFill>
                    <a:srgbClr val="FFFFFF"/>
                  </a:solidFill>
                  <a:latin typeface="Open Sauce Bold"/>
                  <a:ea typeface="Open Sauce Bold"/>
                  <a:cs typeface="Open Sauce Bold"/>
                  <a:sym typeface="Open Sauce Bold"/>
                </a:rPr>
                <a:t>ools used in the DevOps toolchain (Git, Jenkins, Docker, Kubernetes, etc).</a:t>
              </a:r>
            </a:p>
            <a:p>
              <a:pPr algn="l">
                <a:lnSpc>
                  <a:spcPts val="3753"/>
                </a:lnSpc>
                <a:spcBef>
                  <a:spcPct val="0"/>
                </a:spcBef>
              </a:pPr>
              <a:r>
                <a:rPr lang="en-US" b="true" sz="2680" spc="5">
                  <a:solidFill>
                    <a:srgbClr val="FFFFFF"/>
                  </a:solidFill>
                  <a:latin typeface="Open Sauce Bold"/>
                  <a:ea typeface="Open Sauce Bold"/>
                  <a:cs typeface="Open Sauce Bold"/>
                  <a:sym typeface="Open Sauce Bold"/>
                </a:rPr>
                <a:t>Comment: </a:t>
              </a:r>
            </a:p>
            <a:p>
              <a:pPr algn="l">
                <a:lnSpc>
                  <a:spcPts val="3753"/>
                </a:lnSpc>
                <a:spcBef>
                  <a:spcPct val="0"/>
                </a:spcBef>
              </a:pPr>
              <a:r>
                <a:rPr lang="en-US" b="true" sz="2680" spc="5">
                  <a:solidFill>
                    <a:srgbClr val="FFFFFF"/>
                  </a:solidFill>
                  <a:latin typeface="Open Sauce Bold"/>
                  <a:ea typeface="Open Sauce Bold"/>
                  <a:cs typeface="Open Sauce Bold"/>
                  <a:sym typeface="Open Sauce Bold"/>
                </a:rPr>
                <a:t>Provides a clear and beginner-friendly overview of DevOps tools and how they fit into the lifecycle, though the depth is mostly introductory.</a:t>
              </a:r>
            </a:p>
          </p:txBody>
        </p:sp>
        <p:sp>
          <p:nvSpPr>
            <p:cNvPr name="TextBox 9" id="9"/>
            <p:cNvSpPr txBox="true"/>
            <p:nvPr/>
          </p:nvSpPr>
          <p:spPr>
            <a:xfrm rot="0">
              <a:off x="4107428" y="5736385"/>
              <a:ext cx="13914620" cy="579976"/>
            </a:xfrm>
            <a:prstGeom prst="rect">
              <a:avLst/>
            </a:prstGeom>
          </p:spPr>
          <p:txBody>
            <a:bodyPr anchor="t" rtlCol="false" tIns="0" lIns="0" bIns="0" rIns="0">
              <a:spAutoFit/>
            </a:bodyPr>
            <a:lstStyle/>
            <a:p>
              <a:pPr algn="ctr">
                <a:lnSpc>
                  <a:spcPts val="3718"/>
                </a:lnSpc>
                <a:spcBef>
                  <a:spcPct val="0"/>
                </a:spcBef>
              </a:pPr>
              <a:r>
                <a:rPr lang="en-US" b="true" sz="2655" spc="5" u="sng">
                  <a:solidFill>
                    <a:srgbClr val="FFFFFF"/>
                  </a:solidFill>
                  <a:latin typeface="Open Sauce Bold"/>
                  <a:ea typeface="Open Sauce Bold"/>
                  <a:cs typeface="Open Sauce Bold"/>
                  <a:sym typeface="Open Sauce Bold"/>
                  <a:hlinkClick r:id="rId5" tooltip="https://dev.to/meghasharmaaaa/devops-toolchain-mlo"/>
                </a:rPr>
                <a:t>https://dev.to/meghasharmaaaa/devops-toolchain-mlo</a:t>
              </a:r>
            </a:p>
          </p:txBody>
        </p:sp>
        <p:sp>
          <p:nvSpPr>
            <p:cNvPr name="TextBox 10" id="10"/>
            <p:cNvSpPr txBox="true"/>
            <p:nvPr/>
          </p:nvSpPr>
          <p:spPr>
            <a:xfrm rot="0">
              <a:off x="3794944" y="-66675"/>
              <a:ext cx="7827956" cy="632022"/>
            </a:xfrm>
            <a:prstGeom prst="rect">
              <a:avLst/>
            </a:prstGeom>
          </p:spPr>
          <p:txBody>
            <a:bodyPr anchor="t" rtlCol="false" tIns="0" lIns="0" bIns="0" rIns="0">
              <a:spAutoFit/>
            </a:bodyPr>
            <a:lstStyle/>
            <a:p>
              <a:pPr algn="l" marL="604334" indent="-302167" lvl="1">
                <a:lnSpc>
                  <a:spcPts val="3918"/>
                </a:lnSpc>
                <a:spcBef>
                  <a:spcPct val="0"/>
                </a:spcBef>
                <a:buAutoNum type="arabicPeriod" startAt="1"/>
              </a:pPr>
              <a:r>
                <a:rPr lang="en-US" b="true" sz="2799" spc="5">
                  <a:solidFill>
                    <a:srgbClr val="FFFFFF"/>
                  </a:solidFill>
                  <a:latin typeface="Open Sauce Bold"/>
                  <a:ea typeface="Open Sauce Bold"/>
                  <a:cs typeface="Open Sauce Bold"/>
                  <a:sym typeface="Open Sauce Bold"/>
                </a:rPr>
                <a:t> What is a DevOps Toolchain</a:t>
              </a:r>
            </a:p>
          </p:txBody>
        </p:sp>
        <p:sp>
          <p:nvSpPr>
            <p:cNvPr name="TextBox 11" id="11"/>
            <p:cNvSpPr txBox="true"/>
            <p:nvPr/>
          </p:nvSpPr>
          <p:spPr>
            <a:xfrm rot="0">
              <a:off x="3794944" y="5695421"/>
              <a:ext cx="974407" cy="642854"/>
            </a:xfrm>
            <a:prstGeom prst="rect">
              <a:avLst/>
            </a:prstGeom>
          </p:spPr>
          <p:txBody>
            <a:bodyPr anchor="t" rtlCol="false" tIns="0" lIns="0" bIns="0" rIns="0">
              <a:spAutoFit/>
            </a:bodyPr>
            <a:lstStyle/>
            <a:p>
              <a:pPr algn="ctr">
                <a:lnSpc>
                  <a:spcPts val="4006"/>
                </a:lnSpc>
                <a:spcBef>
                  <a:spcPct val="0"/>
                </a:spcBef>
              </a:pPr>
              <a:r>
                <a:rPr lang="en-US" b="true" sz="2861" spc="5">
                  <a:solidFill>
                    <a:srgbClr val="FFFFFF"/>
                  </a:solidFill>
                  <a:latin typeface="Open Sauce Bold"/>
                  <a:ea typeface="Open Sauce Bold"/>
                  <a:cs typeface="Open Sauce Bold"/>
                  <a:sym typeface="Open Sauce Bold"/>
                </a:rPr>
                <a:t>link:</a:t>
              </a:r>
            </a:p>
          </p:txBody>
        </p:sp>
        <p:sp>
          <p:nvSpPr>
            <p:cNvPr name="TextBox 12" id="12"/>
            <p:cNvSpPr txBox="true"/>
            <p:nvPr/>
          </p:nvSpPr>
          <p:spPr>
            <a:xfrm rot="0">
              <a:off x="3794944" y="1538400"/>
              <a:ext cx="16362712" cy="3468806"/>
            </a:xfrm>
            <a:prstGeom prst="rect">
              <a:avLst/>
            </a:prstGeom>
          </p:spPr>
          <p:txBody>
            <a:bodyPr anchor="t" rtlCol="false" tIns="0" lIns="0" bIns="0" rIns="0">
              <a:spAutoFit/>
            </a:bodyPr>
            <a:lstStyle/>
            <a:p>
              <a:pPr algn="l">
                <a:lnSpc>
                  <a:spcPts val="3473"/>
                </a:lnSpc>
              </a:pPr>
              <a:r>
                <a:rPr lang="en-US" sz="2480" spc="4" b="true">
                  <a:solidFill>
                    <a:srgbClr val="FFFFFF"/>
                  </a:solidFill>
                  <a:latin typeface="Open Sauce Bold"/>
                  <a:ea typeface="Open Sauce Bold"/>
                  <a:cs typeface="Open Sauce Bold"/>
                  <a:sym typeface="Open Sauce Bold"/>
                </a:rPr>
                <a:t>Used for: </a:t>
              </a:r>
            </a:p>
            <a:p>
              <a:pPr algn="l">
                <a:lnSpc>
                  <a:spcPts val="3473"/>
                </a:lnSpc>
                <a:spcBef>
                  <a:spcPct val="0"/>
                </a:spcBef>
              </a:pPr>
              <a:r>
                <a:rPr lang="en-US" b="true" sz="2480" spc="4">
                  <a:solidFill>
                    <a:srgbClr val="FFFFFF"/>
                  </a:solidFill>
                  <a:latin typeface="Open Sauce Bold"/>
                  <a:ea typeface="Open Sauce Bold"/>
                  <a:cs typeface="Open Sauce Bold"/>
                  <a:sym typeface="Open Sauce Bold"/>
                </a:rPr>
                <a:t> Understanding the concept an</a:t>
              </a:r>
              <a:r>
                <a:rPr lang="en-US" b="true" sz="2480" spc="4">
                  <a:solidFill>
                    <a:srgbClr val="FFFFFF"/>
                  </a:solidFill>
                  <a:latin typeface="Open Sauce Bold"/>
                  <a:ea typeface="Open Sauce Bold"/>
                  <a:cs typeface="Open Sauce Bold"/>
                  <a:sym typeface="Open Sauce Bold"/>
                </a:rPr>
                <a:t>d working of DevOps toolchain.</a:t>
              </a:r>
            </a:p>
            <a:p>
              <a:pPr algn="l">
                <a:lnSpc>
                  <a:spcPts val="3473"/>
                </a:lnSpc>
                <a:spcBef>
                  <a:spcPct val="0"/>
                </a:spcBef>
              </a:pPr>
              <a:r>
                <a:rPr lang="en-US" b="true" sz="2480" spc="4">
                  <a:solidFill>
                    <a:srgbClr val="FFFFFF"/>
                  </a:solidFill>
                  <a:latin typeface="Open Sauce Bold"/>
                  <a:ea typeface="Open Sauce Bold"/>
                  <a:cs typeface="Open Sauce Bold"/>
                  <a:sym typeface="Open Sauce Bold"/>
                </a:rPr>
                <a:t>Comment:  </a:t>
              </a:r>
            </a:p>
            <a:p>
              <a:pPr algn="l">
                <a:lnSpc>
                  <a:spcPts val="3473"/>
                </a:lnSpc>
                <a:spcBef>
                  <a:spcPct val="0"/>
                </a:spcBef>
              </a:pPr>
              <a:r>
                <a:rPr lang="en-US" b="true" sz="2480" spc="4">
                  <a:solidFill>
                    <a:srgbClr val="FFFFFF"/>
                  </a:solidFill>
                  <a:latin typeface="Open Sauce Bold"/>
                  <a:ea typeface="Open Sauce Bold"/>
                  <a:cs typeface="Open Sauce Bold"/>
                  <a:sym typeface="Open Sauce Bold"/>
                </a:rPr>
                <a:t>Offers a good conceptual explanation and real-world insight into why DevOps tools integrate to automate the software development lifecycle.</a:t>
              </a:r>
            </a:p>
            <a:p>
              <a:pPr algn="l">
                <a:lnSpc>
                  <a:spcPts val="3473"/>
                </a:lnSpc>
                <a:spcBef>
                  <a:spcPct val="0"/>
                </a:spcBef>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43169" y="-2557831"/>
            <a:ext cx="7401663" cy="18288000"/>
          </a:xfrm>
          <a:custGeom>
            <a:avLst/>
            <a:gdLst/>
            <a:ahLst/>
            <a:cxnLst/>
            <a:rect r="r" b="b" t="t" l="l"/>
            <a:pathLst>
              <a:path h="18288000" w="7401663">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t="0" r="0" b="0"/>
            </a:stretch>
          </a:blipFill>
        </p:spPr>
      </p:sp>
      <p:sp>
        <p:nvSpPr>
          <p:cNvPr name="TextBox 3" id="3"/>
          <p:cNvSpPr txBox="true"/>
          <p:nvPr/>
        </p:nvSpPr>
        <p:spPr>
          <a:xfrm rot="0">
            <a:off x="3867805" y="3261743"/>
            <a:ext cx="10552389" cy="2696339"/>
          </a:xfrm>
          <a:prstGeom prst="rect">
            <a:avLst/>
          </a:prstGeom>
        </p:spPr>
        <p:txBody>
          <a:bodyPr anchor="t" rtlCol="false" tIns="0" lIns="0" bIns="0" rIns="0">
            <a:spAutoFit/>
          </a:bodyPr>
          <a:lstStyle/>
          <a:p>
            <a:pPr algn="ctr" marL="0" indent="0" lvl="0">
              <a:lnSpc>
                <a:spcPts val="22262"/>
              </a:lnSpc>
              <a:spcBef>
                <a:spcPct val="0"/>
              </a:spcBef>
            </a:pPr>
            <a:r>
              <a:rPr lang="en-US" sz="15901" spc="-747">
                <a:solidFill>
                  <a:srgbClr val="FFFFFF"/>
                </a:solidFill>
                <a:latin typeface="Open Sauce Light"/>
                <a:ea typeface="Open Sauce Light"/>
                <a:cs typeface="Open Sauce Light"/>
                <a:sym typeface="Open Sauce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DAHGod8EZbM</dc:identifier>
  <dcterms:modified xsi:type="dcterms:W3CDTF">2011-08-01T06:04:30Z</dcterms:modified>
  <cp:revision>1</cp:revision>
  <dc:title>Krrish Batra_Assignment-2</dc:title>
</cp:coreProperties>
</file>